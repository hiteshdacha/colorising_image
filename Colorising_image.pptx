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8" r:id="rId4"/>
    <p:sldId id="257" r:id="rId5"/>
    <p:sldId id="260" r:id="rId6"/>
    <p:sldId id="261" r:id="rId7"/>
    <p:sldId id="263" r:id="rId8"/>
    <p:sldId id="264" r:id="rId9"/>
    <p:sldId id="265" r:id="rId10"/>
    <p:sldId id="266" r:id="rId11"/>
    <p:sldId id="268" r:id="rId12"/>
    <p:sldId id="269" r:id="rId13"/>
    <p:sldId id="270" r:id="rId14"/>
    <p:sldId id="271" r:id="rId15"/>
    <p:sldId id="272" r:id="rId16"/>
    <p:sldId id="273" r:id="rId17"/>
    <p:sldId id="274" r:id="rId18"/>
    <p:sldId id="275" r:id="rId19"/>
    <p:sldId id="276" r:id="rId20"/>
    <p:sldId id="27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7" autoAdjust="0"/>
    <p:restoredTop sz="94660"/>
  </p:normalViewPr>
  <p:slideViewPr>
    <p:cSldViewPr snapToGrid="0">
      <p:cViewPr varScale="1">
        <p:scale>
          <a:sx n="68" d="100"/>
          <a:sy n="68"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0322C7-94AB-490F-A001-412FD0FF974E}" type="datetimeFigureOut">
              <a:rPr lang="en-IN" smtClean="0"/>
              <a:t>05-05-2024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DEB89E-28D0-420D-B6AD-90E14A2112F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5033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0322C7-94AB-490F-A001-412FD0FF974E}" type="datetimeFigureOut">
              <a:rPr lang="en-IN" smtClean="0"/>
              <a:t>05-05-2024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DEB89E-28D0-420D-B6AD-90E14A2112F0}" type="slidenum">
              <a:rPr lang="en-IN" smtClean="0"/>
              <a:t>‹#›</a:t>
            </a:fld>
            <a:endParaRPr lang="en-IN"/>
          </a:p>
        </p:txBody>
      </p:sp>
    </p:spTree>
    <p:extLst>
      <p:ext uri="{BB962C8B-B14F-4D97-AF65-F5344CB8AC3E}">
        <p14:creationId xmlns:p14="http://schemas.microsoft.com/office/powerpoint/2010/main" val="2759926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0322C7-94AB-490F-A001-412FD0FF974E}" type="datetimeFigureOut">
              <a:rPr lang="en-IN" smtClean="0"/>
              <a:t>05-05-2024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DEB89E-28D0-420D-B6AD-90E14A2112F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3455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0322C7-94AB-490F-A001-412FD0FF974E}" type="datetimeFigureOut">
              <a:rPr lang="en-IN" smtClean="0"/>
              <a:t>05-05-2024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DEB89E-28D0-420D-B6AD-90E14A2112F0}" type="slidenum">
              <a:rPr lang="en-IN" smtClean="0"/>
              <a:t>‹#›</a:t>
            </a:fld>
            <a:endParaRPr lang="en-IN"/>
          </a:p>
        </p:txBody>
      </p:sp>
    </p:spTree>
    <p:extLst>
      <p:ext uri="{BB962C8B-B14F-4D97-AF65-F5344CB8AC3E}">
        <p14:creationId xmlns:p14="http://schemas.microsoft.com/office/powerpoint/2010/main" val="393274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0322C7-94AB-490F-A001-412FD0FF974E}" type="datetimeFigureOut">
              <a:rPr lang="en-IN" smtClean="0"/>
              <a:t>05-05-2024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EDEB89E-28D0-420D-B6AD-90E14A2112F0}" type="slidenum">
              <a:rPr lang="en-IN" smtClean="0"/>
              <a:t>‹#›</a:t>
            </a:fld>
            <a:endParaRPr lang="en-IN"/>
          </a:p>
        </p:txBody>
      </p:sp>
    </p:spTree>
    <p:extLst>
      <p:ext uri="{BB962C8B-B14F-4D97-AF65-F5344CB8AC3E}">
        <p14:creationId xmlns:p14="http://schemas.microsoft.com/office/powerpoint/2010/main" val="2339857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0322C7-94AB-490F-A001-412FD0FF974E}" type="datetimeFigureOut">
              <a:rPr lang="en-IN" smtClean="0"/>
              <a:t>05-05-2024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EDEB89E-28D0-420D-B6AD-90E14A2112F0}" type="slidenum">
              <a:rPr lang="en-IN" smtClean="0"/>
              <a:t>‹#›</a:t>
            </a:fld>
            <a:endParaRPr lang="en-IN"/>
          </a:p>
        </p:txBody>
      </p:sp>
    </p:spTree>
    <p:extLst>
      <p:ext uri="{BB962C8B-B14F-4D97-AF65-F5344CB8AC3E}">
        <p14:creationId xmlns:p14="http://schemas.microsoft.com/office/powerpoint/2010/main" val="317138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50322C7-94AB-490F-A001-412FD0FF974E}" type="datetimeFigureOut">
              <a:rPr lang="en-IN" smtClean="0"/>
              <a:t>05-05-2024</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1EDEB89E-28D0-420D-B6AD-90E14A2112F0}" type="slidenum">
              <a:rPr lang="en-IN" smtClean="0"/>
              <a:t>‹#›</a:t>
            </a:fld>
            <a:endParaRPr lang="en-IN"/>
          </a:p>
        </p:txBody>
      </p:sp>
    </p:spTree>
    <p:extLst>
      <p:ext uri="{BB962C8B-B14F-4D97-AF65-F5344CB8AC3E}">
        <p14:creationId xmlns:p14="http://schemas.microsoft.com/office/powerpoint/2010/main" val="2476646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50322C7-94AB-490F-A001-412FD0FF974E}" type="datetimeFigureOut">
              <a:rPr lang="en-IN" smtClean="0"/>
              <a:t>05-05-2024</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EDEB89E-28D0-420D-B6AD-90E14A2112F0}" type="slidenum">
              <a:rPr lang="en-IN" smtClean="0"/>
              <a:t>‹#›</a:t>
            </a:fld>
            <a:endParaRPr lang="en-IN"/>
          </a:p>
        </p:txBody>
      </p:sp>
    </p:spTree>
    <p:extLst>
      <p:ext uri="{BB962C8B-B14F-4D97-AF65-F5344CB8AC3E}">
        <p14:creationId xmlns:p14="http://schemas.microsoft.com/office/powerpoint/2010/main" val="4184790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0322C7-94AB-490F-A001-412FD0FF974E}" type="datetimeFigureOut">
              <a:rPr lang="en-IN" smtClean="0"/>
              <a:t>05-05-2024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DEB89E-28D0-420D-B6AD-90E14A2112F0}" type="slidenum">
              <a:rPr lang="en-IN" smtClean="0"/>
              <a:t>‹#›</a:t>
            </a:fld>
            <a:endParaRPr lang="en-IN"/>
          </a:p>
        </p:txBody>
      </p:sp>
    </p:spTree>
    <p:extLst>
      <p:ext uri="{BB962C8B-B14F-4D97-AF65-F5344CB8AC3E}">
        <p14:creationId xmlns:p14="http://schemas.microsoft.com/office/powerpoint/2010/main" val="2157372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0322C7-94AB-490F-A001-412FD0FF974E}" type="datetimeFigureOut">
              <a:rPr lang="en-IN" smtClean="0"/>
              <a:t>05-05-2024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DEB89E-28D0-420D-B6AD-90E14A2112F0}" type="slidenum">
              <a:rPr lang="en-IN" smtClean="0"/>
              <a:t>‹#›</a:t>
            </a:fld>
            <a:endParaRPr lang="en-IN"/>
          </a:p>
        </p:txBody>
      </p:sp>
    </p:spTree>
    <p:extLst>
      <p:ext uri="{BB962C8B-B14F-4D97-AF65-F5344CB8AC3E}">
        <p14:creationId xmlns:p14="http://schemas.microsoft.com/office/powerpoint/2010/main" val="2146575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0322C7-94AB-490F-A001-412FD0FF974E}" type="datetimeFigureOut">
              <a:rPr lang="en-IN" smtClean="0"/>
              <a:t>05-05-2024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DEB89E-28D0-420D-B6AD-90E14A2112F0}" type="slidenum">
              <a:rPr lang="en-IN" smtClean="0"/>
              <a:t>‹#›</a:t>
            </a:fld>
            <a:endParaRPr lang="en-IN"/>
          </a:p>
        </p:txBody>
      </p:sp>
    </p:spTree>
    <p:extLst>
      <p:ext uri="{BB962C8B-B14F-4D97-AF65-F5344CB8AC3E}">
        <p14:creationId xmlns:p14="http://schemas.microsoft.com/office/powerpoint/2010/main" val="4178780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50322C7-94AB-490F-A001-412FD0FF974E}" type="datetimeFigureOut">
              <a:rPr lang="en-IN" smtClean="0"/>
              <a:t>05-05-2024</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EDEB89E-28D0-420D-B6AD-90E14A2112F0}"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2120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DCB56-F3C6-49B5-BE52-C21E0A19E590}"/>
              </a:ext>
            </a:extLst>
          </p:cNvPr>
          <p:cNvSpPr>
            <a:spLocks noGrp="1"/>
          </p:cNvSpPr>
          <p:nvPr>
            <p:ph type="ctrTitle"/>
          </p:nvPr>
        </p:nvSpPr>
        <p:spPr>
          <a:xfrm>
            <a:off x="1300983" y="1872350"/>
            <a:ext cx="9843252" cy="1922732"/>
          </a:xfrm>
        </p:spPr>
        <p:txBody>
          <a:bodyPr>
            <a:normAutofit/>
          </a:bodyPr>
          <a:lstStyle/>
          <a:p>
            <a:pPr algn="ctr"/>
            <a:r>
              <a:rPr lang="en-IN" sz="6000" dirty="0">
                <a:latin typeface="Gill Sans MT" panose="020B0502020104020203" pitchFamily="34" charset="0"/>
              </a:rPr>
              <a:t>COLORISING IMAGES</a:t>
            </a:r>
          </a:p>
        </p:txBody>
      </p:sp>
      <p:sp>
        <p:nvSpPr>
          <p:cNvPr id="3" name="Subtitle 2">
            <a:extLst>
              <a:ext uri="{FF2B5EF4-FFF2-40B4-BE49-F238E27FC236}">
                <a16:creationId xmlns:a16="http://schemas.microsoft.com/office/drawing/2014/main" id="{D1558957-13B8-48D8-8A0E-93D3A74205CB}"/>
              </a:ext>
            </a:extLst>
          </p:cNvPr>
          <p:cNvSpPr>
            <a:spLocks noGrp="1"/>
          </p:cNvSpPr>
          <p:nvPr>
            <p:ph type="subTitle" idx="1"/>
          </p:nvPr>
        </p:nvSpPr>
        <p:spPr>
          <a:xfrm>
            <a:off x="6555544" y="4765110"/>
            <a:ext cx="4569655" cy="1143000"/>
          </a:xfrm>
        </p:spPr>
        <p:txBody>
          <a:bodyPr>
            <a:normAutofit/>
          </a:bodyPr>
          <a:lstStyle/>
          <a:p>
            <a:pPr algn="r"/>
            <a:r>
              <a:rPr lang="en-US" sz="2800" dirty="0">
                <a:solidFill>
                  <a:schemeClr val="tx1"/>
                </a:solidFill>
                <a:latin typeface="Gill Sans MT" panose="020B0502020104020203" pitchFamily="34" charset="0"/>
              </a:rPr>
              <a:t>Student name </a:t>
            </a:r>
            <a:endParaRPr lang="en-IN" sz="2800" dirty="0">
              <a:solidFill>
                <a:schemeClr val="tx1"/>
              </a:solidFill>
              <a:latin typeface="Gill Sans MT" panose="020B0502020104020203" pitchFamily="34" charset="0"/>
            </a:endParaRPr>
          </a:p>
        </p:txBody>
      </p:sp>
    </p:spTree>
    <p:extLst>
      <p:ext uri="{BB962C8B-B14F-4D97-AF65-F5344CB8AC3E}">
        <p14:creationId xmlns:p14="http://schemas.microsoft.com/office/powerpoint/2010/main" val="3882728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E0909-5393-43B5-938B-AF714C3E1E73}"/>
              </a:ext>
            </a:extLst>
          </p:cNvPr>
          <p:cNvSpPr>
            <a:spLocks noGrp="1"/>
          </p:cNvSpPr>
          <p:nvPr>
            <p:ph type="title"/>
          </p:nvPr>
        </p:nvSpPr>
        <p:spPr/>
        <p:txBody>
          <a:bodyPr>
            <a:normAutofit/>
          </a:bodyPr>
          <a:lstStyle/>
          <a:p>
            <a:r>
              <a:rPr lang="en-US" sz="3200" dirty="0">
                <a:solidFill>
                  <a:schemeClr val="tx1"/>
                </a:solidFill>
                <a:latin typeface="Gill Sans MT" panose="020B0502020104020203" pitchFamily="34" charset="0"/>
              </a:rPr>
              <a:t>Introduction </a:t>
            </a:r>
            <a:endParaRPr lang="en-IN" sz="3200" dirty="0">
              <a:solidFill>
                <a:schemeClr val="tx1"/>
              </a:solidFill>
              <a:latin typeface="Gill Sans MT" panose="020B0502020104020203" pitchFamily="34" charset="0"/>
            </a:endParaRPr>
          </a:p>
        </p:txBody>
      </p:sp>
      <p:sp>
        <p:nvSpPr>
          <p:cNvPr id="5" name="Rectangle 3">
            <a:extLst>
              <a:ext uri="{FF2B5EF4-FFF2-40B4-BE49-F238E27FC236}">
                <a16:creationId xmlns:a16="http://schemas.microsoft.com/office/drawing/2014/main" id="{D8D66D30-22B9-4CFB-BFF7-C3F0B3959902}"/>
              </a:ext>
            </a:extLst>
          </p:cNvPr>
          <p:cNvSpPr>
            <a:spLocks noChangeArrowheads="1"/>
          </p:cNvSpPr>
          <p:nvPr/>
        </p:nvSpPr>
        <p:spPr bwMode="auto">
          <a:xfrm>
            <a:off x="381000" y="1856714"/>
            <a:ext cx="10058400"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1200150" marR="0" lvl="2"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Gill Sans MT" panose="020B0502020104020203" pitchFamily="34" charset="0"/>
              </a:rPr>
              <a:t>It uses advanced technology like GANs (Generative Adversarial Networks) to figure out and add realistic colors to old, grayscale pictures.</a:t>
            </a:r>
          </a:p>
          <a:p>
            <a:pPr marR="0" lvl="2" defTabSz="914400" rtl="0" eaLnBrk="0" fontAlgn="base" latinLnBrk="0" hangingPunct="0">
              <a:lnSpc>
                <a:spcPct val="100000"/>
              </a:lnSpc>
              <a:spcBef>
                <a:spcPct val="0"/>
              </a:spcBef>
              <a:spcAft>
                <a:spcPct val="0"/>
              </a:spcAft>
              <a:buClrTx/>
              <a:buSzTx/>
              <a:tabLst/>
            </a:pPr>
            <a:endParaRPr kumimoji="0" lang="en-US" altLang="en-US" sz="1700" b="0" i="0" u="none" strike="noStrike" cap="none" normalizeH="0" baseline="0" dirty="0">
              <a:ln>
                <a:noFill/>
              </a:ln>
              <a:solidFill>
                <a:schemeClr val="tx1"/>
              </a:solidFill>
              <a:effectLst/>
              <a:latin typeface="Gill Sans MT" panose="020B0502020104020203" pitchFamily="34" charset="0"/>
            </a:endParaRPr>
          </a:p>
          <a:p>
            <a:pPr marL="1200150" marR="0" lvl="2"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Gill Sans MT" panose="020B0502020104020203" pitchFamily="34" charset="0"/>
              </a:rPr>
              <a:t>It brings old photos to life by making them colorful, just like real life, making them more fun and interesting to look at.</a:t>
            </a:r>
          </a:p>
          <a:p>
            <a:pPr marR="0" lvl="2" defTabSz="914400" rtl="0" eaLnBrk="0" fontAlgn="base" latinLnBrk="0" hangingPunct="0">
              <a:lnSpc>
                <a:spcPct val="100000"/>
              </a:lnSpc>
              <a:spcBef>
                <a:spcPct val="0"/>
              </a:spcBef>
              <a:spcAft>
                <a:spcPct val="0"/>
              </a:spcAft>
              <a:buClrTx/>
              <a:buSzTx/>
              <a:tabLst/>
            </a:pPr>
            <a:endParaRPr kumimoji="0" lang="en-US" altLang="en-US" sz="1700" b="0" i="0" u="none" strike="noStrike" cap="none" normalizeH="0" baseline="0" dirty="0">
              <a:ln>
                <a:noFill/>
              </a:ln>
              <a:solidFill>
                <a:schemeClr val="tx1"/>
              </a:solidFill>
              <a:effectLst/>
              <a:latin typeface="Gill Sans MT" panose="020B0502020104020203" pitchFamily="34" charset="0"/>
            </a:endParaRPr>
          </a:p>
          <a:p>
            <a:pPr marL="1200150" marR="0" lvl="2"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Gill Sans MT" panose="020B0502020104020203" pitchFamily="34" charset="0"/>
              </a:rPr>
              <a:t>People who love history, photographers, and artists use it to make old pictures look new and exciting.</a:t>
            </a:r>
          </a:p>
          <a:p>
            <a:pPr marR="0" lvl="2" defTabSz="914400" rtl="0" eaLnBrk="0" fontAlgn="base" latinLnBrk="0" hangingPunct="0">
              <a:lnSpc>
                <a:spcPct val="100000"/>
              </a:lnSpc>
              <a:spcBef>
                <a:spcPct val="0"/>
              </a:spcBef>
              <a:spcAft>
                <a:spcPct val="0"/>
              </a:spcAft>
              <a:buClrTx/>
              <a:buSzTx/>
              <a:tabLst/>
            </a:pPr>
            <a:endParaRPr kumimoji="0" lang="en-US" altLang="en-US" sz="1700" b="0" i="0" u="none" strike="noStrike" cap="none" normalizeH="0" baseline="0" dirty="0">
              <a:ln>
                <a:noFill/>
              </a:ln>
              <a:solidFill>
                <a:schemeClr val="tx1"/>
              </a:solidFill>
              <a:effectLst/>
              <a:latin typeface="Gill Sans MT" panose="020B0502020104020203" pitchFamily="34" charset="0"/>
            </a:endParaRPr>
          </a:p>
          <a:p>
            <a:pPr marL="1200150" marR="0" lvl="2"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Gill Sans MT" panose="020B0502020104020203" pitchFamily="34" charset="0"/>
              </a:rPr>
              <a:t>It helps us understand history better by showing us what the world used to look like in color, not just in black and white. Plus, it's fun to see old things in a new way!</a:t>
            </a:r>
          </a:p>
          <a:p>
            <a:pPr marR="0" lvl="2" defTabSz="914400" rtl="0" eaLnBrk="0" fontAlgn="base" latinLnBrk="0" hangingPunct="0">
              <a:lnSpc>
                <a:spcPct val="100000"/>
              </a:lnSpc>
              <a:spcBef>
                <a:spcPct val="0"/>
              </a:spcBef>
              <a:spcAft>
                <a:spcPct val="0"/>
              </a:spcAft>
              <a:buClrTx/>
              <a:buSzTx/>
              <a:tabLst/>
            </a:pPr>
            <a:endParaRPr kumimoji="0" lang="en-US" altLang="en-US" sz="1700" b="0" i="0" u="none" strike="noStrike" cap="none" normalizeH="0" baseline="0" dirty="0">
              <a:ln>
                <a:noFill/>
              </a:ln>
              <a:solidFill>
                <a:schemeClr val="tx1"/>
              </a:solidFill>
              <a:effectLst/>
              <a:latin typeface="Gill Sans MT" panose="020B0502020104020203" pitchFamily="34" charset="0"/>
            </a:endParaRPr>
          </a:p>
          <a:p>
            <a:pPr marL="1200150" marR="0" lvl="2"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Gill Sans MT" panose="020B0502020104020203" pitchFamily="34" charset="0"/>
              </a:rPr>
              <a:t>Image colorization with GANs is a cool way to add color to black-and-white photos using smart computer programs.</a:t>
            </a:r>
          </a:p>
        </p:txBody>
      </p:sp>
      <p:sp>
        <p:nvSpPr>
          <p:cNvPr id="6" name="Rectangle 4">
            <a:extLst>
              <a:ext uri="{FF2B5EF4-FFF2-40B4-BE49-F238E27FC236}">
                <a16:creationId xmlns:a16="http://schemas.microsoft.com/office/drawing/2014/main" id="{28510412-76F7-4309-90A4-6DB973D111F1}"/>
              </a:ext>
            </a:extLst>
          </p:cNvPr>
          <p:cNvSpPr>
            <a:spLocks noChangeArrowheads="1"/>
          </p:cNvSpPr>
          <p:nvPr/>
        </p:nvSpPr>
        <p:spPr bwMode="auto">
          <a:xfrm>
            <a:off x="0" y="0"/>
            <a:ext cx="4762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7947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E5CCD-9CDE-4A4F-8FD0-15671F0C22E0}"/>
              </a:ext>
            </a:extLst>
          </p:cNvPr>
          <p:cNvSpPr>
            <a:spLocks noGrp="1"/>
          </p:cNvSpPr>
          <p:nvPr>
            <p:ph type="title"/>
          </p:nvPr>
        </p:nvSpPr>
        <p:spPr/>
        <p:txBody>
          <a:bodyPr>
            <a:normAutofit/>
          </a:bodyPr>
          <a:lstStyle/>
          <a:p>
            <a:r>
              <a:rPr lang="en-IN" sz="3200" dirty="0">
                <a:solidFill>
                  <a:schemeClr val="tx1"/>
                </a:solidFill>
                <a:latin typeface="Gill Sans MT" panose="020B0502020104020203" pitchFamily="34" charset="0"/>
              </a:rPr>
              <a:t>Purpose of the project</a:t>
            </a:r>
          </a:p>
        </p:txBody>
      </p:sp>
      <p:sp>
        <p:nvSpPr>
          <p:cNvPr id="4" name="TextBox 3">
            <a:extLst>
              <a:ext uri="{FF2B5EF4-FFF2-40B4-BE49-F238E27FC236}">
                <a16:creationId xmlns:a16="http://schemas.microsoft.com/office/drawing/2014/main" id="{519373D8-8C73-4F40-A5EC-2C7C659B47CA}"/>
              </a:ext>
            </a:extLst>
          </p:cNvPr>
          <p:cNvSpPr txBox="1"/>
          <p:nvPr/>
        </p:nvSpPr>
        <p:spPr>
          <a:xfrm>
            <a:off x="1223889" y="2215759"/>
            <a:ext cx="9823636" cy="2708434"/>
          </a:xfrm>
          <a:prstGeom prst="rect">
            <a:avLst/>
          </a:prstGeom>
          <a:noFill/>
        </p:spPr>
        <p:txBody>
          <a:bodyPr wrap="square">
            <a:spAutoFit/>
          </a:bodyPr>
          <a:lstStyle/>
          <a:p>
            <a:pPr marL="285750" indent="-285750" algn="just">
              <a:buFont typeface="Arial" panose="020B0604020202020204" pitchFamily="34" charset="0"/>
              <a:buChar char="•"/>
            </a:pPr>
            <a:r>
              <a:rPr lang="en-IN" sz="1700" dirty="0">
                <a:latin typeface="Gill Sans MT" panose="020B0502020104020203" pitchFamily="34" charset="0"/>
              </a:rPr>
              <a:t>Revive Historical Imagery: Bring old black-and-white photos to life with realistic colours.</a:t>
            </a:r>
          </a:p>
          <a:p>
            <a:pPr marL="285750" indent="-285750" algn="just">
              <a:buFont typeface="Arial" panose="020B0604020202020204" pitchFamily="34" charset="0"/>
              <a:buChar char="•"/>
            </a:pPr>
            <a:endParaRPr lang="en-IN" sz="1700" dirty="0">
              <a:latin typeface="Gill Sans MT" panose="020B0502020104020203" pitchFamily="34" charset="0"/>
            </a:endParaRPr>
          </a:p>
          <a:p>
            <a:pPr marL="285750" indent="-285750" algn="just">
              <a:buFont typeface="Arial" panose="020B0604020202020204" pitchFamily="34" charset="0"/>
              <a:buChar char="•"/>
            </a:pPr>
            <a:r>
              <a:rPr lang="en-IN" sz="1700" dirty="0">
                <a:latin typeface="Gill Sans MT" panose="020B0502020104020203" pitchFamily="34" charset="0"/>
              </a:rPr>
              <a:t>Streamline Workflow: Make colorization process faster and more accessible for users.</a:t>
            </a:r>
          </a:p>
          <a:p>
            <a:pPr marL="285750" indent="-285750" algn="just">
              <a:buFont typeface="Arial" panose="020B0604020202020204" pitchFamily="34" charset="0"/>
              <a:buChar char="•"/>
            </a:pPr>
            <a:endParaRPr lang="en-IN" sz="1700" dirty="0">
              <a:latin typeface="Gill Sans MT" panose="020B0502020104020203" pitchFamily="34" charset="0"/>
            </a:endParaRPr>
          </a:p>
          <a:p>
            <a:pPr marL="285750" indent="-285750" algn="just">
              <a:buFont typeface="Arial" panose="020B0604020202020204" pitchFamily="34" charset="0"/>
              <a:buChar char="•"/>
            </a:pPr>
            <a:r>
              <a:rPr lang="en-IN" sz="1700" dirty="0">
                <a:latin typeface="Gill Sans MT" panose="020B0502020104020203" pitchFamily="34" charset="0"/>
              </a:rPr>
              <a:t>Enhance Visual Storytelling: Improve engagement and understanding of historical visuals.</a:t>
            </a:r>
          </a:p>
          <a:p>
            <a:pPr marL="285750" indent="-285750" algn="just">
              <a:buFont typeface="Arial" panose="020B0604020202020204" pitchFamily="34" charset="0"/>
              <a:buChar char="•"/>
            </a:pPr>
            <a:endParaRPr lang="en-IN" sz="1700" dirty="0">
              <a:latin typeface="Gill Sans MT" panose="020B0502020104020203" pitchFamily="34" charset="0"/>
            </a:endParaRPr>
          </a:p>
          <a:p>
            <a:pPr marL="285750" indent="-285750" algn="just">
              <a:buFont typeface="Arial" panose="020B0604020202020204" pitchFamily="34" charset="0"/>
              <a:buChar char="•"/>
            </a:pPr>
            <a:r>
              <a:rPr lang="en-IN" sz="1700" dirty="0">
                <a:latin typeface="Gill Sans MT" panose="020B0502020104020203" pitchFamily="34" charset="0"/>
              </a:rPr>
              <a:t>Expand Applications: Enable use in diverse fields like media, education, and archival restoration.</a:t>
            </a:r>
          </a:p>
          <a:p>
            <a:pPr marL="285750" indent="-285750" algn="just">
              <a:buFont typeface="Arial" panose="020B0604020202020204" pitchFamily="34" charset="0"/>
              <a:buChar char="•"/>
            </a:pPr>
            <a:endParaRPr lang="en-IN" sz="1700" dirty="0">
              <a:latin typeface="Gill Sans MT" panose="020B0502020104020203" pitchFamily="34" charset="0"/>
            </a:endParaRPr>
          </a:p>
          <a:p>
            <a:pPr marL="285750" indent="-285750" algn="just">
              <a:buFont typeface="Arial" panose="020B0604020202020204" pitchFamily="34" charset="0"/>
              <a:buChar char="•"/>
            </a:pPr>
            <a:r>
              <a:rPr lang="en-IN" sz="1700" dirty="0">
                <a:latin typeface="Gill Sans MT" panose="020B0502020104020203" pitchFamily="34" charset="0"/>
              </a:rPr>
              <a:t> Advance AI Technology: Push the boundaries of AI capabilities in image processing and interpretation.</a:t>
            </a:r>
          </a:p>
          <a:p>
            <a:pPr marL="285750" indent="-285750" algn="just">
              <a:buFont typeface="Arial" panose="020B0604020202020204" pitchFamily="34" charset="0"/>
              <a:buChar char="•"/>
            </a:pPr>
            <a:endParaRPr lang="en-IN" sz="1700" dirty="0">
              <a:latin typeface="Gill Sans MT" panose="020B0502020104020203" pitchFamily="34" charset="0"/>
            </a:endParaRPr>
          </a:p>
        </p:txBody>
      </p:sp>
    </p:spTree>
    <p:extLst>
      <p:ext uri="{BB962C8B-B14F-4D97-AF65-F5344CB8AC3E}">
        <p14:creationId xmlns:p14="http://schemas.microsoft.com/office/powerpoint/2010/main" val="396006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55327-DC55-41D0-984D-16FC1F244588}"/>
              </a:ext>
            </a:extLst>
          </p:cNvPr>
          <p:cNvSpPr>
            <a:spLocks noGrp="1"/>
          </p:cNvSpPr>
          <p:nvPr>
            <p:ph type="title"/>
          </p:nvPr>
        </p:nvSpPr>
        <p:spPr/>
        <p:txBody>
          <a:bodyPr>
            <a:normAutofit/>
          </a:bodyPr>
          <a:lstStyle/>
          <a:p>
            <a:r>
              <a:rPr lang="en-US" sz="3200" dirty="0">
                <a:solidFill>
                  <a:schemeClr val="tx1"/>
                </a:solidFill>
                <a:latin typeface="Gill Sans MT" panose="020B0502020104020203" pitchFamily="34" charset="0"/>
              </a:rPr>
              <a:t>Brief overview of project </a:t>
            </a:r>
            <a:endParaRPr lang="en-IN" sz="3200" dirty="0">
              <a:solidFill>
                <a:schemeClr val="tx1"/>
              </a:solidFill>
              <a:latin typeface="Gill Sans MT" panose="020B0502020104020203" pitchFamily="34" charset="0"/>
            </a:endParaRPr>
          </a:p>
        </p:txBody>
      </p:sp>
      <p:sp>
        <p:nvSpPr>
          <p:cNvPr id="4" name="TextBox 3">
            <a:extLst>
              <a:ext uri="{FF2B5EF4-FFF2-40B4-BE49-F238E27FC236}">
                <a16:creationId xmlns:a16="http://schemas.microsoft.com/office/drawing/2014/main" id="{A133B1C8-95F5-4EC0-85CD-A962DF067C3F}"/>
              </a:ext>
            </a:extLst>
          </p:cNvPr>
          <p:cNvSpPr txBox="1"/>
          <p:nvPr/>
        </p:nvSpPr>
        <p:spPr>
          <a:xfrm>
            <a:off x="1097280" y="1573062"/>
            <a:ext cx="9985641" cy="4016484"/>
          </a:xfrm>
          <a:prstGeom prst="rect">
            <a:avLst/>
          </a:prstGeom>
          <a:noFill/>
        </p:spPr>
        <p:txBody>
          <a:bodyPr wrap="square">
            <a:spAutoFit/>
          </a:bodyPr>
          <a:lstStyle/>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Deep Learning Techniques:</a:t>
            </a:r>
          </a:p>
          <a:p>
            <a:pPr algn="just"/>
            <a:r>
              <a:rPr lang="en-IN" sz="1700" dirty="0">
                <a:latin typeface="Gill Sans MT" panose="020B0502020104020203" pitchFamily="34" charset="0"/>
              </a:rPr>
              <a:t>Using GANs and CNNs, it transforms images with unparalleled realism.</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Training Data:</a:t>
            </a:r>
          </a:p>
          <a:p>
            <a:pPr algn="just"/>
            <a:r>
              <a:rPr lang="en-IN" sz="1700" dirty="0">
                <a:latin typeface="Gill Sans MT" panose="020B0502020104020203" pitchFamily="34" charset="0"/>
              </a:rPr>
              <a:t>Trained on large sets of grayscale and colour images for accurate colorization.</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Efficiency Boost:</a:t>
            </a:r>
          </a:p>
          <a:p>
            <a:pPr algn="just"/>
            <a:r>
              <a:rPr lang="en-IN" sz="1700" dirty="0">
                <a:latin typeface="Gill Sans MT" panose="020B0502020104020203" pitchFamily="34" charset="0"/>
              </a:rPr>
              <a:t>Automates colorization, making it faster and easier for everyone.</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Wide Applications:</a:t>
            </a:r>
          </a:p>
          <a:p>
            <a:pPr algn="just"/>
            <a:r>
              <a:rPr lang="en-IN" sz="1700" dirty="0">
                <a:latin typeface="Gill Sans MT" panose="020B0502020104020203" pitchFamily="34" charset="0"/>
              </a:rPr>
              <a:t>Useful in history, media, and education for vibrant visual storytelling.</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Visual Impact:</a:t>
            </a:r>
          </a:p>
          <a:p>
            <a:pPr algn="just"/>
            <a:r>
              <a:rPr lang="en-IN" sz="1700" dirty="0">
                <a:latin typeface="Gill Sans MT" panose="020B0502020104020203" pitchFamily="34" charset="0"/>
              </a:rPr>
              <a:t>Enhances historical visuals, offering deeper insights through colour infusion.</a:t>
            </a:r>
          </a:p>
        </p:txBody>
      </p:sp>
    </p:spTree>
    <p:extLst>
      <p:ext uri="{BB962C8B-B14F-4D97-AF65-F5344CB8AC3E}">
        <p14:creationId xmlns:p14="http://schemas.microsoft.com/office/powerpoint/2010/main" val="1273621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5DBF9-6E61-4BB8-B193-E97629820C94}"/>
              </a:ext>
            </a:extLst>
          </p:cNvPr>
          <p:cNvSpPr>
            <a:spLocks noGrp="1"/>
          </p:cNvSpPr>
          <p:nvPr>
            <p:ph type="title"/>
          </p:nvPr>
        </p:nvSpPr>
        <p:spPr/>
        <p:txBody>
          <a:bodyPr>
            <a:normAutofit/>
          </a:bodyPr>
          <a:lstStyle/>
          <a:p>
            <a:r>
              <a:rPr lang="en-IN" sz="3200" dirty="0">
                <a:solidFill>
                  <a:schemeClr val="tx1"/>
                </a:solidFill>
                <a:latin typeface="Gill Sans MT" panose="020B0502020104020203" pitchFamily="34" charset="0"/>
              </a:rPr>
              <a:t> Problem Statement</a:t>
            </a:r>
          </a:p>
        </p:txBody>
      </p:sp>
      <p:sp>
        <p:nvSpPr>
          <p:cNvPr id="6" name="TextBox 5">
            <a:extLst>
              <a:ext uri="{FF2B5EF4-FFF2-40B4-BE49-F238E27FC236}">
                <a16:creationId xmlns:a16="http://schemas.microsoft.com/office/drawing/2014/main" id="{D3BDBB34-085A-4FCA-9017-B566D98369EC}"/>
              </a:ext>
            </a:extLst>
          </p:cNvPr>
          <p:cNvSpPr txBox="1"/>
          <p:nvPr/>
        </p:nvSpPr>
        <p:spPr>
          <a:xfrm>
            <a:off x="1122997" y="2093089"/>
            <a:ext cx="9946005" cy="2708434"/>
          </a:xfrm>
          <a:prstGeom prst="rect">
            <a:avLst/>
          </a:prstGeom>
          <a:noFill/>
        </p:spPr>
        <p:txBody>
          <a:bodyPr wrap="square">
            <a:spAutoFit/>
          </a:bodyPr>
          <a:lstStyle/>
          <a:p>
            <a:pPr marL="285750" indent="-285750" algn="just">
              <a:buFont typeface="Arial" panose="020B0604020202020204" pitchFamily="34" charset="0"/>
              <a:buChar char="•"/>
            </a:pPr>
            <a:r>
              <a:rPr lang="en-US" sz="1700" b="1" dirty="0">
                <a:latin typeface="Gill Sans MT" panose="020B0502020104020203" pitchFamily="34" charset="0"/>
              </a:rPr>
              <a:t>Traditional Methods Lack Realism:</a:t>
            </a:r>
          </a:p>
          <a:p>
            <a:pPr algn="just"/>
            <a:r>
              <a:rPr lang="en-US" sz="1700" dirty="0">
                <a:latin typeface="Gill Sans MT" panose="020B0502020104020203" pitchFamily="34" charset="0"/>
              </a:rPr>
              <a:t>Old techniques often produce flat or inaccurate colors, failing to capture the vibrancy of real-life scenes.</a:t>
            </a:r>
          </a:p>
          <a:p>
            <a:pPr marL="285750" indent="-285750" algn="just">
              <a:buFont typeface="Arial" panose="020B0604020202020204" pitchFamily="34" charset="0"/>
              <a:buChar char="•"/>
            </a:pPr>
            <a:endParaRPr lang="en-US" sz="1700" dirty="0">
              <a:latin typeface="Gill Sans MT" panose="020B0502020104020203" pitchFamily="34" charset="0"/>
            </a:endParaRPr>
          </a:p>
          <a:p>
            <a:pPr marL="285750" indent="-285750" algn="just">
              <a:buFont typeface="Arial" panose="020B0604020202020204" pitchFamily="34" charset="0"/>
              <a:buChar char="•"/>
            </a:pPr>
            <a:r>
              <a:rPr lang="en-US" sz="1700" b="1" dirty="0">
                <a:latin typeface="Gill Sans MT" panose="020B0502020104020203" pitchFamily="34" charset="0"/>
              </a:rPr>
              <a:t>Time-Consuming Manual Colorization:</a:t>
            </a:r>
          </a:p>
          <a:p>
            <a:pPr algn="just"/>
            <a:r>
              <a:rPr lang="en-US" sz="1700" dirty="0">
                <a:latin typeface="Gill Sans MT" panose="020B0502020104020203" pitchFamily="34" charset="0"/>
              </a:rPr>
              <a:t>Manual colorization of black-and-white images is a tedious and time-consuming process, limiting its practicality and scalability.</a:t>
            </a:r>
          </a:p>
          <a:p>
            <a:pPr marL="285750" indent="-285750" algn="just">
              <a:buFont typeface="Arial" panose="020B0604020202020204" pitchFamily="34" charset="0"/>
              <a:buChar char="•"/>
            </a:pPr>
            <a:endParaRPr lang="en-US" sz="1700" dirty="0">
              <a:latin typeface="Gill Sans MT" panose="020B0502020104020203" pitchFamily="34" charset="0"/>
            </a:endParaRPr>
          </a:p>
          <a:p>
            <a:pPr marL="285750" indent="-285750" algn="just">
              <a:buFont typeface="Arial" panose="020B0604020202020204" pitchFamily="34" charset="0"/>
              <a:buChar char="•"/>
            </a:pPr>
            <a:r>
              <a:rPr lang="en-US" sz="1700" b="1" dirty="0">
                <a:latin typeface="Gill Sans MT" panose="020B0502020104020203" pitchFamily="34" charset="0"/>
              </a:rPr>
              <a:t>Difficulty in Preserving Historical Accuracy:</a:t>
            </a:r>
          </a:p>
          <a:p>
            <a:pPr algn="just"/>
            <a:r>
              <a:rPr lang="en-US" sz="1700" dirty="0">
                <a:latin typeface="Gill Sans MT" panose="020B0502020104020203" pitchFamily="34" charset="0"/>
              </a:rPr>
              <a:t>Maintaining the authenticity of historical visuals becomes challenging when relying on subjective human interpretation for colorization.</a:t>
            </a:r>
            <a:endParaRPr lang="en-IN" sz="1700" dirty="0">
              <a:latin typeface="Gill Sans MT" panose="020B0502020104020203" pitchFamily="34" charset="0"/>
            </a:endParaRPr>
          </a:p>
        </p:txBody>
      </p:sp>
    </p:spTree>
    <p:extLst>
      <p:ext uri="{BB962C8B-B14F-4D97-AF65-F5344CB8AC3E}">
        <p14:creationId xmlns:p14="http://schemas.microsoft.com/office/powerpoint/2010/main" val="3077832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2694F-DA47-43FE-81F8-D3CEC37E9D1B}"/>
              </a:ext>
            </a:extLst>
          </p:cNvPr>
          <p:cNvSpPr>
            <a:spLocks noGrp="1"/>
          </p:cNvSpPr>
          <p:nvPr>
            <p:ph type="title"/>
          </p:nvPr>
        </p:nvSpPr>
        <p:spPr/>
        <p:txBody>
          <a:bodyPr>
            <a:normAutofit/>
          </a:bodyPr>
          <a:lstStyle/>
          <a:p>
            <a:r>
              <a:rPr lang="en-IN" sz="3200" dirty="0">
                <a:solidFill>
                  <a:schemeClr val="tx1"/>
                </a:solidFill>
                <a:latin typeface="Gill Sans MT" panose="020B0502020104020203" pitchFamily="34" charset="0"/>
              </a:rPr>
              <a:t>Objectives</a:t>
            </a:r>
          </a:p>
        </p:txBody>
      </p:sp>
      <p:sp>
        <p:nvSpPr>
          <p:cNvPr id="4" name="TextBox 3">
            <a:extLst>
              <a:ext uri="{FF2B5EF4-FFF2-40B4-BE49-F238E27FC236}">
                <a16:creationId xmlns:a16="http://schemas.microsoft.com/office/drawing/2014/main" id="{DFDC5106-FCA3-4982-8989-A83936ADE492}"/>
              </a:ext>
            </a:extLst>
          </p:cNvPr>
          <p:cNvSpPr txBox="1"/>
          <p:nvPr/>
        </p:nvSpPr>
        <p:spPr>
          <a:xfrm>
            <a:off x="1097280" y="1861185"/>
            <a:ext cx="9955530" cy="3754874"/>
          </a:xfrm>
          <a:prstGeom prst="rect">
            <a:avLst/>
          </a:prstGeom>
          <a:noFill/>
        </p:spPr>
        <p:txBody>
          <a:bodyPr wrap="square">
            <a:spAutoFit/>
          </a:bodyPr>
          <a:lstStyle/>
          <a:p>
            <a:pPr marL="285750" indent="-285750">
              <a:buFont typeface="Arial" panose="020B0604020202020204" pitchFamily="34" charset="0"/>
              <a:buChar char="•"/>
            </a:pPr>
            <a:endParaRPr lang="en-IN" sz="1700" dirty="0">
              <a:latin typeface="Gill Sans MT" panose="020B0502020104020203" pitchFamily="34" charset="0"/>
            </a:endParaRPr>
          </a:p>
          <a:p>
            <a:pPr marL="285750" indent="-285750">
              <a:buFont typeface="Arial" panose="020B0604020202020204" pitchFamily="34" charset="0"/>
              <a:buChar char="•"/>
            </a:pPr>
            <a:r>
              <a:rPr lang="en-IN" sz="1700" dirty="0">
                <a:latin typeface="Gill Sans MT" panose="020B0502020104020203" pitchFamily="34" charset="0"/>
              </a:rPr>
              <a:t>Develop an AI-driven system to add realistic colours to black-and-white images.</a:t>
            </a:r>
          </a:p>
          <a:p>
            <a:pPr marL="285750" indent="-285750">
              <a:buFont typeface="Arial" panose="020B0604020202020204" pitchFamily="34" charset="0"/>
              <a:buChar char="•"/>
            </a:pPr>
            <a:endParaRPr lang="en-IN" sz="1700" dirty="0">
              <a:latin typeface="Gill Sans MT" panose="020B0502020104020203" pitchFamily="34" charset="0"/>
            </a:endParaRPr>
          </a:p>
          <a:p>
            <a:pPr marL="285750" indent="-285750">
              <a:buFont typeface="Arial" panose="020B0604020202020204" pitchFamily="34" charset="0"/>
              <a:buChar char="•"/>
            </a:pPr>
            <a:r>
              <a:rPr lang="en-IN" sz="1700" dirty="0">
                <a:latin typeface="Gill Sans MT" panose="020B0502020104020203" pitchFamily="34" charset="0"/>
              </a:rPr>
              <a:t>Utilize deep learning techniques like GANs and CNNs for accurate colorization.</a:t>
            </a:r>
          </a:p>
          <a:p>
            <a:endParaRPr lang="en-IN" sz="1700" dirty="0">
              <a:latin typeface="Gill Sans MT" panose="020B0502020104020203" pitchFamily="34" charset="0"/>
            </a:endParaRPr>
          </a:p>
          <a:p>
            <a:pPr marL="285750" indent="-285750">
              <a:buFont typeface="Arial" panose="020B0604020202020204" pitchFamily="34" charset="0"/>
              <a:buChar char="•"/>
            </a:pPr>
            <a:r>
              <a:rPr lang="en-IN" sz="1700" dirty="0">
                <a:latin typeface="Gill Sans MT" panose="020B0502020104020203" pitchFamily="34" charset="0"/>
              </a:rPr>
              <a:t>Train the system on extensive datasets of grayscale and colour images.</a:t>
            </a:r>
          </a:p>
          <a:p>
            <a:endParaRPr lang="en-IN" sz="1700" dirty="0">
              <a:latin typeface="Gill Sans MT" panose="020B0502020104020203" pitchFamily="34" charset="0"/>
            </a:endParaRPr>
          </a:p>
          <a:p>
            <a:pPr marL="285750" indent="-285750">
              <a:buFont typeface="Arial" panose="020B0604020202020204" pitchFamily="34" charset="0"/>
              <a:buChar char="•"/>
            </a:pPr>
            <a:r>
              <a:rPr lang="en-IN" sz="1700" dirty="0">
                <a:latin typeface="Gill Sans MT" panose="020B0502020104020203" pitchFamily="34" charset="0"/>
              </a:rPr>
              <a:t>Enhance efficiency and accessibility of photo colorization.</a:t>
            </a:r>
          </a:p>
          <a:p>
            <a:r>
              <a:rPr lang="en-IN" sz="1700" dirty="0">
                <a:latin typeface="Gill Sans MT" panose="020B0502020104020203" pitchFamily="34" charset="0"/>
              </a:rPr>
              <a:t>  </a:t>
            </a:r>
          </a:p>
          <a:p>
            <a:pPr marL="285750" indent="-285750">
              <a:buFont typeface="Arial" panose="020B0604020202020204" pitchFamily="34" charset="0"/>
              <a:buChar char="•"/>
            </a:pPr>
            <a:r>
              <a:rPr lang="en-IN" sz="1700" dirty="0">
                <a:latin typeface="Gill Sans MT" panose="020B0502020104020203" pitchFamily="34" charset="0"/>
              </a:rPr>
              <a:t>Explore applications across industries such as historical archive restoration, media production, and education.</a:t>
            </a:r>
          </a:p>
          <a:p>
            <a:endParaRPr lang="en-IN" sz="1700" dirty="0">
              <a:latin typeface="Gill Sans MT" panose="020B0502020104020203" pitchFamily="34" charset="0"/>
            </a:endParaRPr>
          </a:p>
          <a:p>
            <a:pPr marL="285750" indent="-285750">
              <a:buFont typeface="Arial" panose="020B0604020202020204" pitchFamily="34" charset="0"/>
              <a:buChar char="•"/>
            </a:pPr>
            <a:r>
              <a:rPr lang="en-IN" sz="1700" dirty="0">
                <a:latin typeface="Gill Sans MT" panose="020B0502020104020203" pitchFamily="34" charset="0"/>
              </a:rPr>
              <a:t>Contribute to the evolution of visual storytelling by infusing colour into monochromatic imagery.</a:t>
            </a:r>
          </a:p>
          <a:p>
            <a:r>
              <a:rPr lang="en-IN" sz="1700" dirty="0">
                <a:latin typeface="Gill Sans MT" panose="020B0502020104020203" pitchFamily="34" charset="0"/>
              </a:rPr>
              <a:t>   </a:t>
            </a:r>
          </a:p>
        </p:txBody>
      </p:sp>
    </p:spTree>
    <p:extLst>
      <p:ext uri="{BB962C8B-B14F-4D97-AF65-F5344CB8AC3E}">
        <p14:creationId xmlns:p14="http://schemas.microsoft.com/office/powerpoint/2010/main" val="2962099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C3925-CC39-465B-8FDB-4575C2B7C8E6}"/>
              </a:ext>
            </a:extLst>
          </p:cNvPr>
          <p:cNvSpPr>
            <a:spLocks noGrp="1"/>
          </p:cNvSpPr>
          <p:nvPr>
            <p:ph type="title"/>
          </p:nvPr>
        </p:nvSpPr>
        <p:spPr/>
        <p:txBody>
          <a:bodyPr>
            <a:normAutofit/>
          </a:bodyPr>
          <a:lstStyle/>
          <a:p>
            <a:r>
              <a:rPr lang="en-US" sz="3200" dirty="0">
                <a:solidFill>
                  <a:schemeClr val="tx1"/>
                </a:solidFill>
                <a:latin typeface="Gill Sans MT" panose="020B0502020104020203" pitchFamily="34" charset="0"/>
              </a:rPr>
              <a:t>Generative Adversarial Networks (GANs) - Overview</a:t>
            </a:r>
            <a:endParaRPr lang="en-IN" sz="3200" dirty="0">
              <a:solidFill>
                <a:schemeClr val="tx1"/>
              </a:solidFill>
              <a:latin typeface="Gill Sans MT" panose="020B0502020104020203" pitchFamily="34" charset="0"/>
            </a:endParaRPr>
          </a:p>
        </p:txBody>
      </p:sp>
      <p:sp>
        <p:nvSpPr>
          <p:cNvPr id="6" name="TextBox 5">
            <a:extLst>
              <a:ext uri="{FF2B5EF4-FFF2-40B4-BE49-F238E27FC236}">
                <a16:creationId xmlns:a16="http://schemas.microsoft.com/office/drawing/2014/main" id="{F7BFFC80-FD4F-4E7C-BE55-6F676CEAFA3A}"/>
              </a:ext>
            </a:extLst>
          </p:cNvPr>
          <p:cNvSpPr txBox="1"/>
          <p:nvPr/>
        </p:nvSpPr>
        <p:spPr>
          <a:xfrm>
            <a:off x="1097280" y="2048560"/>
            <a:ext cx="10058400" cy="3493264"/>
          </a:xfrm>
          <a:prstGeom prst="rect">
            <a:avLst/>
          </a:prstGeom>
          <a:noFill/>
        </p:spPr>
        <p:txBody>
          <a:bodyPr wrap="square">
            <a:spAutoFit/>
          </a:bodyPr>
          <a:lstStyle/>
          <a:p>
            <a:pPr marL="285750" indent="-285750" algn="just">
              <a:buFont typeface="Arial" panose="020B0604020202020204" pitchFamily="34" charset="0"/>
              <a:buChar char="•"/>
            </a:pPr>
            <a:r>
              <a:rPr lang="en-US" sz="1700" dirty="0">
                <a:latin typeface="Gill Sans MT" panose="020B0502020104020203" pitchFamily="34" charset="0"/>
              </a:rPr>
              <a:t>GANs are AI systems consisting of two networks – a generator and a discriminator – collaborating to create new data.</a:t>
            </a:r>
          </a:p>
          <a:p>
            <a:pPr algn="just"/>
            <a:endParaRPr lang="en-US" sz="1700" dirty="0">
              <a:latin typeface="Gill Sans MT" panose="020B0502020104020203" pitchFamily="34" charset="0"/>
            </a:endParaRPr>
          </a:p>
          <a:p>
            <a:pPr marL="285750" indent="-285750" algn="just">
              <a:buFont typeface="Arial" panose="020B0604020202020204" pitchFamily="34" charset="0"/>
              <a:buChar char="•"/>
            </a:pPr>
            <a:r>
              <a:rPr lang="en-US" sz="1700" dirty="0">
                <a:latin typeface="Gill Sans MT" panose="020B0502020104020203" pitchFamily="34" charset="0"/>
              </a:rPr>
              <a:t>The generator crafts fake data, such as colorized versions of black-and-white images.</a:t>
            </a:r>
          </a:p>
          <a:p>
            <a:pPr algn="just"/>
            <a:endParaRPr lang="en-US" sz="1700" dirty="0">
              <a:latin typeface="Gill Sans MT" panose="020B0502020104020203" pitchFamily="34" charset="0"/>
            </a:endParaRPr>
          </a:p>
          <a:p>
            <a:pPr marL="285750" indent="-285750" algn="just">
              <a:buFont typeface="Arial" panose="020B0604020202020204" pitchFamily="34" charset="0"/>
              <a:buChar char="•"/>
            </a:pPr>
            <a:r>
              <a:rPr lang="en-US" sz="1700" dirty="0">
                <a:latin typeface="Gill Sans MT" panose="020B0502020104020203" pitchFamily="34" charset="0"/>
              </a:rPr>
              <a:t>The discriminator tries to tell apart real and fake data.</a:t>
            </a:r>
          </a:p>
          <a:p>
            <a:pPr algn="just"/>
            <a:endParaRPr lang="en-US" sz="1700" dirty="0">
              <a:latin typeface="Gill Sans MT" panose="020B0502020104020203" pitchFamily="34" charset="0"/>
            </a:endParaRPr>
          </a:p>
          <a:p>
            <a:pPr marL="285750" indent="-285750" algn="just">
              <a:buFont typeface="Arial" panose="020B0604020202020204" pitchFamily="34" charset="0"/>
              <a:buChar char="•"/>
            </a:pPr>
            <a:r>
              <a:rPr lang="en-US" sz="1700" dirty="0">
                <a:latin typeface="Gill Sans MT" panose="020B0502020104020203" pitchFamily="34" charset="0"/>
              </a:rPr>
              <a:t>This competition drives both networks to improve, resulting in more real.</a:t>
            </a:r>
          </a:p>
          <a:p>
            <a:pPr algn="just"/>
            <a:endParaRPr lang="en-US" sz="1700" dirty="0">
              <a:latin typeface="Gill Sans MT" panose="020B0502020104020203" pitchFamily="34" charset="0"/>
            </a:endParaRPr>
          </a:p>
          <a:p>
            <a:pPr marL="285750" indent="-285750" algn="just">
              <a:buFont typeface="Arial" panose="020B0604020202020204" pitchFamily="34" charset="0"/>
              <a:buChar char="•"/>
            </a:pPr>
            <a:r>
              <a:rPr lang="en-US" sz="1700" dirty="0">
                <a:latin typeface="Gill Sans MT" panose="020B0502020104020203" pitchFamily="34" charset="0"/>
              </a:rPr>
              <a:t>With learning, GANs enhance colorization accuracy, rendering final results natural and vibrant.</a:t>
            </a:r>
          </a:p>
          <a:p>
            <a:pPr algn="just"/>
            <a:endParaRPr lang="en-US" sz="1700" dirty="0">
              <a:latin typeface="Gill Sans MT" panose="020B0502020104020203" pitchFamily="34" charset="0"/>
            </a:endParaRPr>
          </a:p>
          <a:p>
            <a:pPr marL="285750" indent="-285750" algn="just">
              <a:buFont typeface="Arial" panose="020B0604020202020204" pitchFamily="34" charset="0"/>
              <a:buChar char="•"/>
            </a:pPr>
            <a:r>
              <a:rPr lang="en-US" sz="1700" dirty="0">
                <a:latin typeface="Gill Sans MT" panose="020B0502020104020203" pitchFamily="34" charset="0"/>
              </a:rPr>
              <a:t>Training GANs demands significant computational resources and careful management to prevent issues like mode collapse or convergence problems.</a:t>
            </a:r>
            <a:endParaRPr lang="en-IN" sz="1700" dirty="0">
              <a:latin typeface="Gill Sans MT" panose="020B0502020104020203" pitchFamily="34" charset="0"/>
            </a:endParaRPr>
          </a:p>
        </p:txBody>
      </p:sp>
    </p:spTree>
    <p:extLst>
      <p:ext uri="{BB962C8B-B14F-4D97-AF65-F5344CB8AC3E}">
        <p14:creationId xmlns:p14="http://schemas.microsoft.com/office/powerpoint/2010/main" val="3947408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18923-081D-4779-887D-F87802A775B0}"/>
              </a:ext>
            </a:extLst>
          </p:cNvPr>
          <p:cNvSpPr>
            <a:spLocks noGrp="1"/>
          </p:cNvSpPr>
          <p:nvPr>
            <p:ph type="title"/>
          </p:nvPr>
        </p:nvSpPr>
        <p:spPr/>
        <p:txBody>
          <a:bodyPr>
            <a:normAutofit/>
          </a:bodyPr>
          <a:lstStyle/>
          <a:p>
            <a:r>
              <a:rPr lang="en-US" sz="3200" dirty="0">
                <a:solidFill>
                  <a:schemeClr val="tx1"/>
                </a:solidFill>
                <a:latin typeface="Gill Sans MT" panose="020B0502020104020203" pitchFamily="34" charset="0"/>
              </a:rPr>
              <a:t>Why Use GANs for Image Colorization?</a:t>
            </a:r>
            <a:endParaRPr lang="en-IN" sz="3200" dirty="0">
              <a:solidFill>
                <a:schemeClr val="tx1"/>
              </a:solidFill>
              <a:latin typeface="Gill Sans MT" panose="020B0502020104020203" pitchFamily="34" charset="0"/>
            </a:endParaRPr>
          </a:p>
        </p:txBody>
      </p:sp>
      <p:sp>
        <p:nvSpPr>
          <p:cNvPr id="6" name="TextBox 5">
            <a:extLst>
              <a:ext uri="{FF2B5EF4-FFF2-40B4-BE49-F238E27FC236}">
                <a16:creationId xmlns:a16="http://schemas.microsoft.com/office/drawing/2014/main" id="{3946BB87-086D-4626-AE11-F6D799068CCD}"/>
              </a:ext>
            </a:extLst>
          </p:cNvPr>
          <p:cNvSpPr txBox="1"/>
          <p:nvPr/>
        </p:nvSpPr>
        <p:spPr>
          <a:xfrm>
            <a:off x="1097280" y="2336393"/>
            <a:ext cx="10058400" cy="2185214"/>
          </a:xfrm>
          <a:prstGeom prst="rect">
            <a:avLst/>
          </a:prstGeom>
          <a:noFill/>
        </p:spPr>
        <p:txBody>
          <a:bodyPr wrap="square">
            <a:spAutoFit/>
          </a:bodyPr>
          <a:lstStyle/>
          <a:p>
            <a:pPr marL="285750" indent="-285750" algn="just">
              <a:buFont typeface="Arial" panose="020B0604020202020204" pitchFamily="34" charset="0"/>
              <a:buChar char="•"/>
            </a:pPr>
            <a:r>
              <a:rPr lang="en-US" sz="1700" b="1" dirty="0">
                <a:latin typeface="Gill Sans MT" panose="020B0502020104020203" pitchFamily="34" charset="0"/>
              </a:rPr>
              <a:t>Contextual Understanding:</a:t>
            </a:r>
            <a:r>
              <a:rPr lang="en-US" sz="1700" dirty="0">
                <a:latin typeface="Gill Sans MT" panose="020B0502020104020203" pitchFamily="34" charset="0"/>
              </a:rPr>
              <a:t> GANs understand the context of images, coloring them realistically based on what's in the scene.</a:t>
            </a:r>
          </a:p>
          <a:p>
            <a:pPr marL="285750" indent="-285750" algn="just">
              <a:buFont typeface="Arial" panose="020B0604020202020204" pitchFamily="34" charset="0"/>
              <a:buChar char="•"/>
            </a:pPr>
            <a:endParaRPr lang="en-US" sz="1700" dirty="0">
              <a:latin typeface="Gill Sans MT" panose="020B0502020104020203" pitchFamily="34" charset="0"/>
            </a:endParaRPr>
          </a:p>
          <a:p>
            <a:pPr marL="285750" indent="-285750" algn="just">
              <a:buFont typeface="Arial" panose="020B0604020202020204" pitchFamily="34" charset="0"/>
              <a:buChar char="•"/>
            </a:pPr>
            <a:r>
              <a:rPr lang="en-US" sz="1700" b="1" dirty="0">
                <a:latin typeface="Gill Sans MT" panose="020B0502020104020203" pitchFamily="34" charset="0"/>
              </a:rPr>
              <a:t>High-Quality Results: </a:t>
            </a:r>
            <a:r>
              <a:rPr lang="en-US" sz="1700" dirty="0">
                <a:latin typeface="Gill Sans MT" panose="020B0502020104020203" pitchFamily="34" charset="0"/>
              </a:rPr>
              <a:t>GANs make colorizations rich in detail and visually pleasing, crucial for tasks like restoring historical photos.</a:t>
            </a:r>
          </a:p>
          <a:p>
            <a:pPr marL="285750" indent="-285750" algn="just">
              <a:buFont typeface="Arial" panose="020B0604020202020204" pitchFamily="34" charset="0"/>
              <a:buChar char="•"/>
            </a:pPr>
            <a:endParaRPr lang="en-US" sz="1700" dirty="0">
              <a:latin typeface="Gill Sans MT" panose="020B0502020104020203" pitchFamily="34" charset="0"/>
            </a:endParaRPr>
          </a:p>
          <a:p>
            <a:pPr marL="285750" indent="-285750" algn="just">
              <a:buFont typeface="Arial" panose="020B0604020202020204" pitchFamily="34" charset="0"/>
              <a:buChar char="•"/>
            </a:pPr>
            <a:r>
              <a:rPr lang="en-US" sz="1700" b="1" dirty="0">
                <a:latin typeface="Gill Sans MT" panose="020B0502020104020203" pitchFamily="34" charset="0"/>
              </a:rPr>
              <a:t>Learning from Complex Data: </a:t>
            </a:r>
            <a:r>
              <a:rPr lang="en-US" sz="1700" dirty="0">
                <a:latin typeface="Gill Sans MT" panose="020B0502020104020203" pitchFamily="34" charset="0"/>
              </a:rPr>
              <a:t>GANs can handle all kinds of images, learning different color relationships from them. This helps in coloring images from various styles and periods accurately.</a:t>
            </a:r>
            <a:endParaRPr lang="en-IN" sz="1700" dirty="0">
              <a:latin typeface="Gill Sans MT" panose="020B0502020104020203" pitchFamily="34" charset="0"/>
            </a:endParaRPr>
          </a:p>
        </p:txBody>
      </p:sp>
    </p:spTree>
    <p:extLst>
      <p:ext uri="{BB962C8B-B14F-4D97-AF65-F5344CB8AC3E}">
        <p14:creationId xmlns:p14="http://schemas.microsoft.com/office/powerpoint/2010/main" val="1436173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05F1-B286-4CD2-A2E1-A0C3B1A96EA0}"/>
              </a:ext>
            </a:extLst>
          </p:cNvPr>
          <p:cNvSpPr>
            <a:spLocks noGrp="1"/>
          </p:cNvSpPr>
          <p:nvPr>
            <p:ph type="title"/>
          </p:nvPr>
        </p:nvSpPr>
        <p:spPr/>
        <p:txBody>
          <a:bodyPr>
            <a:normAutofit/>
          </a:bodyPr>
          <a:lstStyle/>
          <a:p>
            <a:r>
              <a:rPr lang="en-IN" sz="3200" dirty="0">
                <a:solidFill>
                  <a:schemeClr val="tx1"/>
                </a:solidFill>
                <a:latin typeface="Gill Sans MT" panose="020B0502020104020203" pitchFamily="34" charset="0"/>
              </a:rPr>
              <a:t>The pix2pix Framework</a:t>
            </a:r>
          </a:p>
        </p:txBody>
      </p:sp>
      <p:sp>
        <p:nvSpPr>
          <p:cNvPr id="6" name="TextBox 5">
            <a:extLst>
              <a:ext uri="{FF2B5EF4-FFF2-40B4-BE49-F238E27FC236}">
                <a16:creationId xmlns:a16="http://schemas.microsoft.com/office/drawing/2014/main" id="{47759190-9B67-4011-8B13-E03480A287F1}"/>
              </a:ext>
            </a:extLst>
          </p:cNvPr>
          <p:cNvSpPr txBox="1"/>
          <p:nvPr/>
        </p:nvSpPr>
        <p:spPr>
          <a:xfrm>
            <a:off x="1143952" y="1670685"/>
            <a:ext cx="9965055" cy="4801314"/>
          </a:xfrm>
          <a:prstGeom prst="rect">
            <a:avLst/>
          </a:prstGeom>
          <a:noFill/>
        </p:spPr>
        <p:txBody>
          <a:bodyPr wrap="square">
            <a:spAutoFit/>
          </a:bodyPr>
          <a:lstStyle/>
          <a:p>
            <a:pPr marL="285750" indent="-285750" algn="just">
              <a:buFont typeface="Arial" panose="020B0604020202020204" pitchFamily="34" charset="0"/>
              <a:buChar char="•"/>
            </a:pPr>
            <a:r>
              <a:rPr lang="en-US" sz="1700" b="1" dirty="0">
                <a:latin typeface="Gill Sans MT" panose="020B0502020104020203" pitchFamily="34" charset="0"/>
              </a:rPr>
              <a:t>introduction to pix2pix:</a:t>
            </a:r>
          </a:p>
          <a:p>
            <a:pPr algn="just"/>
            <a:r>
              <a:rPr lang="en-US" sz="1700" dirty="0">
                <a:latin typeface="Gill Sans MT" panose="020B0502020104020203" pitchFamily="34" charset="0"/>
              </a:rPr>
              <a:t>pix2pix is a framework utilizing conditional generative adversarial networks (</a:t>
            </a:r>
            <a:r>
              <a:rPr lang="en-US" sz="1700" dirty="0" err="1">
                <a:latin typeface="Gill Sans MT" panose="020B0502020104020203" pitchFamily="34" charset="0"/>
              </a:rPr>
              <a:t>cGANs</a:t>
            </a:r>
            <a:r>
              <a:rPr lang="en-US" sz="1700" dirty="0">
                <a:latin typeface="Gill Sans MT" panose="020B0502020104020203" pitchFamily="34" charset="0"/>
              </a:rPr>
              <a:t>) for image-to-image translation tasks.</a:t>
            </a:r>
          </a:p>
          <a:p>
            <a:pPr algn="just"/>
            <a:endParaRPr lang="en-US" sz="1700" dirty="0">
              <a:latin typeface="Gill Sans MT" panose="020B0502020104020203" pitchFamily="34" charset="0"/>
            </a:endParaRPr>
          </a:p>
          <a:p>
            <a:pPr marL="285750" indent="-285750" algn="just">
              <a:buFont typeface="Arial" panose="020B0604020202020204" pitchFamily="34" charset="0"/>
              <a:buChar char="•"/>
            </a:pPr>
            <a:r>
              <a:rPr lang="en-US" sz="1700" b="1" dirty="0">
                <a:latin typeface="Gill Sans MT" panose="020B0502020104020203" pitchFamily="34" charset="0"/>
              </a:rPr>
              <a:t>Main Components:</a:t>
            </a:r>
          </a:p>
          <a:p>
            <a:pPr algn="just"/>
            <a:r>
              <a:rPr lang="en-US" sz="1700" dirty="0">
                <a:latin typeface="Gill Sans MT" panose="020B0502020104020203" pitchFamily="34" charset="0"/>
              </a:rPr>
              <a:t>The framework comprises a generator and a discriminator, essential for the translation process.</a:t>
            </a:r>
          </a:p>
          <a:p>
            <a:pPr algn="just"/>
            <a:endParaRPr lang="en-US" sz="1700" dirty="0">
              <a:latin typeface="Gill Sans MT" panose="020B0502020104020203" pitchFamily="34" charset="0"/>
            </a:endParaRPr>
          </a:p>
          <a:p>
            <a:pPr marL="285750" indent="-285750" algn="just">
              <a:buFont typeface="Arial" panose="020B0604020202020204" pitchFamily="34" charset="0"/>
              <a:buChar char="•"/>
            </a:pPr>
            <a:r>
              <a:rPr lang="en-US" sz="1700" b="1" dirty="0">
                <a:latin typeface="Gill Sans MT" panose="020B0502020104020203" pitchFamily="34" charset="0"/>
              </a:rPr>
              <a:t>Generator Design:</a:t>
            </a:r>
          </a:p>
          <a:p>
            <a:pPr algn="just"/>
            <a:r>
              <a:rPr lang="en-US" sz="1700" dirty="0">
                <a:latin typeface="Gill Sans MT" panose="020B0502020104020203" pitchFamily="34" charset="0"/>
              </a:rPr>
              <a:t>Utilizes a U-Net-based architecture, enabling seamless integration of low-level and high-level features through skip connections.</a:t>
            </a:r>
          </a:p>
          <a:p>
            <a:pPr marL="285750" indent="-285750" algn="just">
              <a:buFont typeface="Arial" panose="020B0604020202020204" pitchFamily="34" charset="0"/>
              <a:buChar char="•"/>
            </a:pPr>
            <a:endParaRPr lang="en-US" sz="1700" dirty="0">
              <a:latin typeface="Gill Sans MT" panose="020B0502020104020203" pitchFamily="34" charset="0"/>
            </a:endParaRPr>
          </a:p>
          <a:p>
            <a:pPr marL="285750" indent="-285750" algn="just">
              <a:buFont typeface="Arial" panose="020B0604020202020204" pitchFamily="34" charset="0"/>
              <a:buChar char="•"/>
            </a:pPr>
            <a:r>
              <a:rPr lang="en-US" sz="1700" b="1" dirty="0">
                <a:latin typeface="Gill Sans MT" panose="020B0502020104020203" pitchFamily="34" charset="0"/>
              </a:rPr>
              <a:t>Discriminator:</a:t>
            </a:r>
          </a:p>
          <a:p>
            <a:pPr algn="just"/>
            <a:r>
              <a:rPr lang="en-US" sz="1700" dirty="0">
                <a:latin typeface="Gill Sans MT" panose="020B0502020104020203" pitchFamily="34" charset="0"/>
              </a:rPr>
              <a:t>Often referred to as Patch GAN, it focuses on classifying small image patches as real or fake, enhancing sharpness and texture.</a:t>
            </a:r>
          </a:p>
          <a:p>
            <a:pPr algn="just"/>
            <a:endParaRPr lang="en-US" sz="1700" dirty="0">
              <a:latin typeface="Gill Sans MT" panose="020B0502020104020203" pitchFamily="34" charset="0"/>
            </a:endParaRPr>
          </a:p>
          <a:p>
            <a:pPr marL="285750" indent="-285750" algn="just">
              <a:buFont typeface="Arial" panose="020B0604020202020204" pitchFamily="34" charset="0"/>
              <a:buChar char="•"/>
            </a:pPr>
            <a:r>
              <a:rPr lang="en-US" sz="1700" b="1" dirty="0">
                <a:latin typeface="Gill Sans MT" panose="020B0502020104020203" pitchFamily="34" charset="0"/>
              </a:rPr>
              <a:t>Training Process:</a:t>
            </a:r>
          </a:p>
          <a:p>
            <a:pPr algn="just"/>
            <a:r>
              <a:rPr lang="en-US" sz="1700" dirty="0">
                <a:latin typeface="Gill Sans MT" panose="020B0502020104020203" pitchFamily="34" charset="0"/>
              </a:rPr>
              <a:t>Involves alternating updates between the discriminator and the generator, ensuring the generated images are realistic and aligned with input conditions.</a:t>
            </a:r>
            <a:endParaRPr lang="en-IN" sz="1700" dirty="0">
              <a:latin typeface="Gill Sans MT" panose="020B0502020104020203" pitchFamily="34" charset="0"/>
            </a:endParaRPr>
          </a:p>
        </p:txBody>
      </p:sp>
    </p:spTree>
    <p:extLst>
      <p:ext uri="{BB962C8B-B14F-4D97-AF65-F5344CB8AC3E}">
        <p14:creationId xmlns:p14="http://schemas.microsoft.com/office/powerpoint/2010/main" val="1812642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4F190-20D7-4F39-BDA6-7F817C525EB7}"/>
              </a:ext>
            </a:extLst>
          </p:cNvPr>
          <p:cNvSpPr>
            <a:spLocks noGrp="1"/>
          </p:cNvSpPr>
          <p:nvPr>
            <p:ph type="title"/>
          </p:nvPr>
        </p:nvSpPr>
        <p:spPr/>
        <p:txBody>
          <a:bodyPr>
            <a:normAutofit/>
          </a:bodyPr>
          <a:lstStyle/>
          <a:p>
            <a:r>
              <a:rPr lang="en-IN" sz="3200" dirty="0">
                <a:solidFill>
                  <a:schemeClr val="tx1"/>
                </a:solidFill>
                <a:latin typeface="Gill Sans MT" panose="020B0502020104020203" pitchFamily="34" charset="0"/>
              </a:rPr>
              <a:t>Technical Framework</a:t>
            </a:r>
          </a:p>
        </p:txBody>
      </p:sp>
      <p:sp>
        <p:nvSpPr>
          <p:cNvPr id="4" name="TextBox 3">
            <a:extLst>
              <a:ext uri="{FF2B5EF4-FFF2-40B4-BE49-F238E27FC236}">
                <a16:creationId xmlns:a16="http://schemas.microsoft.com/office/drawing/2014/main" id="{82564CD0-EE0E-4776-826E-C63CA18FC181}"/>
              </a:ext>
            </a:extLst>
          </p:cNvPr>
          <p:cNvSpPr txBox="1"/>
          <p:nvPr/>
        </p:nvSpPr>
        <p:spPr>
          <a:xfrm>
            <a:off x="1139190" y="1557874"/>
            <a:ext cx="9974580" cy="4539704"/>
          </a:xfrm>
          <a:prstGeom prst="rect">
            <a:avLst/>
          </a:prstGeom>
          <a:noFill/>
        </p:spPr>
        <p:txBody>
          <a:bodyPr wrap="square">
            <a:spAutoFit/>
          </a:bodyPr>
          <a:lstStyle/>
          <a:p>
            <a:pPr marL="285750" indent="-285750" algn="just">
              <a:buFont typeface="Arial" panose="020B0604020202020204" pitchFamily="34" charset="0"/>
              <a:buChar char="•"/>
            </a:pPr>
            <a:endParaRPr lang="en-IN" sz="1700" dirty="0">
              <a:latin typeface="Gill Sans MT" panose="020B0502020104020203" pitchFamily="34" charset="0"/>
            </a:endParaRPr>
          </a:p>
          <a:p>
            <a:pPr marL="285750" indent="-285750" algn="just">
              <a:buFont typeface="Arial" panose="020B0604020202020204" pitchFamily="34" charset="0"/>
              <a:buChar char="•"/>
            </a:pPr>
            <a:r>
              <a:rPr lang="en-IN" sz="1700" b="1" dirty="0">
                <a:latin typeface="Gill Sans MT" panose="020B0502020104020203" pitchFamily="34" charset="0"/>
              </a:rPr>
              <a:t>Programming Language:</a:t>
            </a:r>
          </a:p>
          <a:p>
            <a:pPr algn="just"/>
            <a:r>
              <a:rPr lang="en-IN" sz="1700" dirty="0">
                <a:latin typeface="Gill Sans MT" panose="020B0502020104020203" pitchFamily="34" charset="0"/>
              </a:rPr>
              <a:t>Utilize a programming language such as Python for implementation.</a:t>
            </a:r>
          </a:p>
          <a:p>
            <a:pPr algn="just"/>
            <a:r>
              <a:rPr lang="en-IN" sz="1700" dirty="0">
                <a:latin typeface="Gill Sans MT" panose="020B0502020104020203" pitchFamily="34" charset="0"/>
              </a:rPr>
              <a:t>                </a:t>
            </a:r>
            <a:endParaRPr lang="en-IN" sz="1700" b="1" dirty="0">
              <a:latin typeface="Gill Sans MT" panose="020B0502020104020203" pitchFamily="34" charset="0"/>
            </a:endParaRPr>
          </a:p>
          <a:p>
            <a:pPr marL="285750" indent="-285750" algn="just">
              <a:buFont typeface="Arial" panose="020B0604020202020204" pitchFamily="34" charset="0"/>
              <a:buChar char="•"/>
            </a:pPr>
            <a:r>
              <a:rPr lang="en-IN" sz="1700" b="1" dirty="0">
                <a:latin typeface="Gill Sans MT" panose="020B0502020104020203" pitchFamily="34" charset="0"/>
              </a:rPr>
              <a:t>Image Segmentation:</a:t>
            </a:r>
          </a:p>
          <a:p>
            <a:pPr algn="just"/>
            <a:r>
              <a:rPr lang="en-IN" sz="1700" dirty="0">
                <a:latin typeface="Gill Sans MT" panose="020B0502020104020203" pitchFamily="34" charset="0"/>
              </a:rPr>
              <a:t>Apply image segmentation techniques to partition images into meaningful segments for colorization.</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Technical Implementation of pix2pix:</a:t>
            </a:r>
          </a:p>
          <a:p>
            <a:pPr algn="just"/>
            <a:r>
              <a:rPr lang="en-IN" sz="1700" dirty="0">
                <a:latin typeface="Gill Sans MT" panose="020B0502020104020203" pitchFamily="34" charset="0"/>
              </a:rPr>
              <a:t>Implement the pix2pix framework for image-to-image translation tasks, providing a structured approach for colorization.</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Enhancing Image Quality with Edges2Images Techniques:</a:t>
            </a:r>
          </a:p>
          <a:p>
            <a:pPr algn="just"/>
            <a:r>
              <a:rPr lang="en-IN" sz="1700" dirty="0">
                <a:latin typeface="Gill Sans MT" panose="020B0502020104020203" pitchFamily="34" charset="0"/>
              </a:rPr>
              <a:t>Use Edges2Images techniques to improve image quality and detail preservation during the colorization process.</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Libraries:</a:t>
            </a:r>
          </a:p>
          <a:p>
            <a:pPr algn="just"/>
            <a:r>
              <a:rPr lang="en-IN" sz="1700" dirty="0">
                <a:latin typeface="Gill Sans MT" panose="020B0502020104020203" pitchFamily="34" charset="0"/>
              </a:rPr>
              <a:t>Leverage relevant libraries such as TensorFlow or </a:t>
            </a:r>
            <a:r>
              <a:rPr lang="en-IN" sz="1700" dirty="0" err="1">
                <a:latin typeface="Gill Sans MT" panose="020B0502020104020203" pitchFamily="34" charset="0"/>
              </a:rPr>
              <a:t>PyTorch</a:t>
            </a:r>
            <a:r>
              <a:rPr lang="en-IN" sz="1700" dirty="0">
                <a:latin typeface="Gill Sans MT" panose="020B0502020104020203" pitchFamily="34" charset="0"/>
              </a:rPr>
              <a:t> for efficient implementation of GANs and other techniques.</a:t>
            </a:r>
          </a:p>
        </p:txBody>
      </p:sp>
    </p:spTree>
    <p:extLst>
      <p:ext uri="{BB962C8B-B14F-4D97-AF65-F5344CB8AC3E}">
        <p14:creationId xmlns:p14="http://schemas.microsoft.com/office/powerpoint/2010/main" val="1872573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9062F-BBAA-4975-9300-94F7622D74E2}"/>
              </a:ext>
            </a:extLst>
          </p:cNvPr>
          <p:cNvSpPr>
            <a:spLocks noGrp="1"/>
          </p:cNvSpPr>
          <p:nvPr>
            <p:ph type="title"/>
          </p:nvPr>
        </p:nvSpPr>
        <p:spPr/>
        <p:txBody>
          <a:bodyPr>
            <a:normAutofit/>
          </a:bodyPr>
          <a:lstStyle/>
          <a:p>
            <a:r>
              <a:rPr lang="en-IN" sz="3200" dirty="0">
                <a:solidFill>
                  <a:schemeClr val="tx1"/>
                </a:solidFill>
                <a:latin typeface="Gill Sans MT" panose="020B0502020104020203" pitchFamily="34" charset="0"/>
              </a:rPr>
              <a:t>Pre-processing Techniques</a:t>
            </a:r>
          </a:p>
        </p:txBody>
      </p:sp>
      <p:sp>
        <p:nvSpPr>
          <p:cNvPr id="4" name="TextBox 3">
            <a:extLst>
              <a:ext uri="{FF2B5EF4-FFF2-40B4-BE49-F238E27FC236}">
                <a16:creationId xmlns:a16="http://schemas.microsoft.com/office/drawing/2014/main" id="{979B5C74-EE70-4929-A3FB-96F2704A0F67}"/>
              </a:ext>
            </a:extLst>
          </p:cNvPr>
          <p:cNvSpPr txBox="1"/>
          <p:nvPr/>
        </p:nvSpPr>
        <p:spPr>
          <a:xfrm>
            <a:off x="1097280" y="1508473"/>
            <a:ext cx="10363201" cy="5062924"/>
          </a:xfrm>
          <a:prstGeom prst="rect">
            <a:avLst/>
          </a:prstGeom>
          <a:noFill/>
        </p:spPr>
        <p:txBody>
          <a:bodyPr wrap="square">
            <a:spAutoFit/>
          </a:bodyPr>
          <a:lstStyle/>
          <a:p>
            <a:pPr marL="285750" indent="-285750" algn="just">
              <a:buFont typeface="Arial" panose="020B0604020202020204" pitchFamily="34" charset="0"/>
              <a:buChar char="•"/>
            </a:pPr>
            <a:endParaRPr lang="en-IN" sz="1700" dirty="0">
              <a:latin typeface="Gill Sans MT" panose="020B0502020104020203" pitchFamily="34" charset="0"/>
            </a:endParaRPr>
          </a:p>
          <a:p>
            <a:pPr marL="285750" indent="-285750" algn="just">
              <a:buFont typeface="Arial" panose="020B0604020202020204" pitchFamily="34" charset="0"/>
              <a:buChar char="•"/>
            </a:pPr>
            <a:r>
              <a:rPr lang="en-IN" sz="1700" b="1" dirty="0">
                <a:latin typeface="Gill Sans MT" panose="020B0502020104020203" pitchFamily="34" charset="0"/>
              </a:rPr>
              <a:t>Data Augmentation:</a:t>
            </a:r>
          </a:p>
          <a:p>
            <a:pPr algn="just"/>
            <a:r>
              <a:rPr lang="en-IN" sz="1700" dirty="0">
                <a:latin typeface="Gill Sans MT" panose="020B0502020104020203" pitchFamily="34" charset="0"/>
              </a:rPr>
              <a:t>Increase dataset diversity by applying transformations like rotation, flipping, or scaling to input images.</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Normalization:</a:t>
            </a:r>
          </a:p>
          <a:p>
            <a:pPr algn="just"/>
            <a:r>
              <a:rPr lang="en-IN" sz="1700" dirty="0">
                <a:latin typeface="Gill Sans MT" panose="020B0502020104020203" pitchFamily="34" charset="0"/>
              </a:rPr>
              <a:t>Standardize pixel values to a common scale, typically between 0 and 1, to ensure consistency across images.</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Grayscale Conversion:</a:t>
            </a:r>
          </a:p>
          <a:p>
            <a:pPr algn="just"/>
            <a:r>
              <a:rPr lang="en-IN" sz="1700" dirty="0">
                <a:latin typeface="Gill Sans MT" panose="020B0502020104020203" pitchFamily="34" charset="0"/>
              </a:rPr>
              <a:t>Convert colour images to grayscale before training the GAN model to establish a clear input-output relationship.</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Image Resizing:</a:t>
            </a:r>
          </a:p>
          <a:p>
            <a:pPr algn="just"/>
            <a:r>
              <a:rPr lang="en-IN" sz="1700" dirty="0">
                <a:latin typeface="Gill Sans MT" panose="020B0502020104020203" pitchFamily="34" charset="0"/>
              </a:rPr>
              <a:t>Resize images to a uniform size to facilitate processing and ensure compatibility with the GAN architecture.</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Data Balancing:</a:t>
            </a:r>
          </a:p>
          <a:p>
            <a:pPr algn="just"/>
            <a:r>
              <a:rPr lang="en-IN" sz="1700" dirty="0">
                <a:latin typeface="Gill Sans MT" panose="020B0502020104020203" pitchFamily="34" charset="0"/>
              </a:rPr>
              <a:t>Ensure an equal distribution of grayscale images across different categories or classes to prevent bias during training.</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Data Quality Assessment:</a:t>
            </a:r>
          </a:p>
          <a:p>
            <a:pPr algn="just"/>
            <a:r>
              <a:rPr lang="en-IN" sz="1700" dirty="0">
                <a:latin typeface="Gill Sans MT" panose="020B0502020104020203" pitchFamily="34" charset="0"/>
              </a:rPr>
              <a:t>Evaluate image quality and remove low-resolution or poorly scanned images to maintain dataset integrity.</a:t>
            </a:r>
          </a:p>
          <a:p>
            <a:pPr algn="just"/>
            <a:r>
              <a:rPr lang="en-IN" sz="1700" dirty="0">
                <a:latin typeface="Gill Sans MT" panose="020B0502020104020203" pitchFamily="34" charset="0"/>
              </a:rPr>
              <a:t>    </a:t>
            </a:r>
          </a:p>
        </p:txBody>
      </p:sp>
    </p:spTree>
    <p:extLst>
      <p:ext uri="{BB962C8B-B14F-4D97-AF65-F5344CB8AC3E}">
        <p14:creationId xmlns:p14="http://schemas.microsoft.com/office/powerpoint/2010/main" val="4149634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F45B3-B0EE-403C-A128-21B59DACA3FB}"/>
              </a:ext>
            </a:extLst>
          </p:cNvPr>
          <p:cNvSpPr>
            <a:spLocks noGrp="1"/>
          </p:cNvSpPr>
          <p:nvPr>
            <p:ph type="title"/>
          </p:nvPr>
        </p:nvSpPr>
        <p:spPr/>
        <p:txBody>
          <a:bodyPr>
            <a:normAutofit/>
          </a:bodyPr>
          <a:lstStyle/>
          <a:p>
            <a:r>
              <a:rPr lang="en-IN" sz="3200" dirty="0">
                <a:solidFill>
                  <a:schemeClr val="tx1"/>
                </a:solidFill>
                <a:latin typeface="Gill Sans MT" panose="020B0502020104020203" pitchFamily="34" charset="0"/>
              </a:rPr>
              <a:t>Model Architecture - Generator</a:t>
            </a:r>
          </a:p>
        </p:txBody>
      </p:sp>
      <p:sp>
        <p:nvSpPr>
          <p:cNvPr id="4" name="TextBox 3">
            <a:extLst>
              <a:ext uri="{FF2B5EF4-FFF2-40B4-BE49-F238E27FC236}">
                <a16:creationId xmlns:a16="http://schemas.microsoft.com/office/drawing/2014/main" id="{DE0AE311-52DE-4796-AB5A-A7F80CBCF93F}"/>
              </a:ext>
            </a:extLst>
          </p:cNvPr>
          <p:cNvSpPr txBox="1"/>
          <p:nvPr/>
        </p:nvSpPr>
        <p:spPr>
          <a:xfrm>
            <a:off x="1163955" y="1737360"/>
            <a:ext cx="10275570" cy="4539704"/>
          </a:xfrm>
          <a:prstGeom prst="rect">
            <a:avLst/>
          </a:prstGeom>
          <a:noFill/>
        </p:spPr>
        <p:txBody>
          <a:bodyPr wrap="square">
            <a:spAutoFit/>
          </a:bodyPr>
          <a:lstStyle/>
          <a:p>
            <a:pPr marL="285750" indent="-285750" algn="just">
              <a:buFont typeface="Arial" panose="020B0604020202020204" pitchFamily="34" charset="0"/>
              <a:buChar char="•"/>
            </a:pPr>
            <a:r>
              <a:rPr lang="en-IN" sz="1700" b="1" dirty="0">
                <a:latin typeface="Gill Sans MT" panose="020B0502020104020203" pitchFamily="34" charset="0"/>
              </a:rPr>
              <a:t>Introduction:</a:t>
            </a:r>
          </a:p>
          <a:p>
            <a:pPr algn="just"/>
            <a:r>
              <a:rPr lang="en-IN" sz="1700" dirty="0">
                <a:latin typeface="Gill Sans MT" panose="020B0502020104020203" pitchFamily="34" charset="0"/>
              </a:rPr>
              <a:t>The generator is a crucial component in GANs responsible for creating realistic colorized versions of black-and-white images.</a:t>
            </a:r>
          </a:p>
          <a:p>
            <a:pPr marL="285750" indent="-285750" algn="just">
              <a:buFont typeface="Arial" panose="020B0604020202020204" pitchFamily="34" charset="0"/>
              <a:buChar char="•"/>
            </a:pPr>
            <a:endParaRPr lang="en-IN" sz="1700" dirty="0">
              <a:latin typeface="Gill Sans MT" panose="020B0502020104020203" pitchFamily="34" charset="0"/>
            </a:endParaRPr>
          </a:p>
          <a:p>
            <a:pPr marL="285750" indent="-285750" algn="just">
              <a:buFont typeface="Arial" panose="020B0604020202020204" pitchFamily="34" charset="0"/>
              <a:buChar char="•"/>
            </a:pPr>
            <a:r>
              <a:rPr lang="en-IN" sz="1700" b="1" dirty="0">
                <a:latin typeface="Gill Sans MT" panose="020B0502020104020203" pitchFamily="34" charset="0"/>
              </a:rPr>
              <a:t>U-Net Based Design:</a:t>
            </a:r>
          </a:p>
          <a:p>
            <a:pPr algn="just"/>
            <a:r>
              <a:rPr lang="en-IN" sz="1700" dirty="0">
                <a:latin typeface="Gill Sans MT" panose="020B0502020104020203" pitchFamily="34" charset="0"/>
              </a:rPr>
              <a:t>Utilizes a U-Net architecture, a type of neural network structure that enables seamless integration of both low-level and high-level features.</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Encoder-Decoder Structure:</a:t>
            </a:r>
          </a:p>
          <a:p>
            <a:pPr algn="just"/>
            <a:r>
              <a:rPr lang="en-IN" sz="1700" dirty="0">
                <a:latin typeface="Gill Sans MT" panose="020B0502020104020203" pitchFamily="34" charset="0"/>
              </a:rPr>
              <a:t>Comprises an encoder network that extracts features from the input grayscale image.</a:t>
            </a:r>
          </a:p>
          <a:p>
            <a:pPr marL="285750" indent="-285750" algn="just">
              <a:buFont typeface="Arial" panose="020B0604020202020204" pitchFamily="34" charset="0"/>
              <a:buChar char="•"/>
            </a:pPr>
            <a:endParaRPr lang="en-IN" sz="1700" dirty="0">
              <a:latin typeface="Gill Sans MT" panose="020B0502020104020203" pitchFamily="34" charset="0"/>
            </a:endParaRPr>
          </a:p>
          <a:p>
            <a:pPr marL="285750" indent="-285750" algn="just">
              <a:buFont typeface="Arial" panose="020B0604020202020204" pitchFamily="34" charset="0"/>
              <a:buChar char="•"/>
            </a:pPr>
            <a:r>
              <a:rPr lang="en-IN" sz="1700" b="1" dirty="0">
                <a:latin typeface="Gill Sans MT" panose="020B0502020104020203" pitchFamily="34" charset="0"/>
              </a:rPr>
              <a:t>Skip Connections:</a:t>
            </a:r>
          </a:p>
          <a:p>
            <a:pPr algn="just"/>
            <a:r>
              <a:rPr lang="en-IN" sz="1700" dirty="0">
                <a:latin typeface="Gill Sans MT" panose="020B0502020104020203" pitchFamily="34" charset="0"/>
              </a:rPr>
              <a:t>Connects layers of the encoder directly to corresponding layers of the decoder.</a:t>
            </a:r>
          </a:p>
          <a:p>
            <a:pPr algn="just"/>
            <a:r>
              <a:rPr lang="en-IN" sz="1700" dirty="0">
                <a:latin typeface="Gill Sans MT" panose="020B0502020104020203" pitchFamily="34" charset="0"/>
              </a:rPr>
              <a:t> Allows the generator to retain important details from the input image throughout the colorization process.</a:t>
            </a:r>
          </a:p>
          <a:p>
            <a:pPr marL="285750" indent="-285750" algn="just">
              <a:buFont typeface="Arial" panose="020B0604020202020204" pitchFamily="34" charset="0"/>
              <a:buChar char="•"/>
            </a:pPr>
            <a:endParaRPr lang="en-IN" sz="1700" dirty="0">
              <a:latin typeface="Gill Sans MT" panose="020B0502020104020203" pitchFamily="34" charset="0"/>
            </a:endParaRPr>
          </a:p>
          <a:p>
            <a:pPr marL="285750" indent="-285750" algn="just">
              <a:buFont typeface="Arial" panose="020B0604020202020204" pitchFamily="34" charset="0"/>
              <a:buChar char="•"/>
            </a:pPr>
            <a:r>
              <a:rPr lang="en-IN" sz="1700" b="1" dirty="0">
                <a:latin typeface="Gill Sans MT" panose="020B0502020104020203" pitchFamily="34" charset="0"/>
              </a:rPr>
              <a:t>Benefits:</a:t>
            </a:r>
          </a:p>
          <a:p>
            <a:pPr algn="just"/>
            <a:r>
              <a:rPr lang="en-IN" sz="1700" dirty="0">
                <a:latin typeface="Gill Sans MT" panose="020B0502020104020203" pitchFamily="34" charset="0"/>
              </a:rPr>
              <a:t>Facilitates the preservation of fine details and textures from the original grayscale image.</a:t>
            </a:r>
          </a:p>
        </p:txBody>
      </p:sp>
    </p:spTree>
    <p:extLst>
      <p:ext uri="{BB962C8B-B14F-4D97-AF65-F5344CB8AC3E}">
        <p14:creationId xmlns:p14="http://schemas.microsoft.com/office/powerpoint/2010/main" val="2768403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55DFB-37DF-45CA-9009-FA05771B7422}"/>
              </a:ext>
            </a:extLst>
          </p:cNvPr>
          <p:cNvSpPr>
            <a:spLocks noGrp="1"/>
          </p:cNvSpPr>
          <p:nvPr>
            <p:ph type="title"/>
          </p:nvPr>
        </p:nvSpPr>
        <p:spPr/>
        <p:txBody>
          <a:bodyPr>
            <a:normAutofit/>
          </a:bodyPr>
          <a:lstStyle/>
          <a:p>
            <a:r>
              <a:rPr lang="en-IN" sz="3200" dirty="0">
                <a:solidFill>
                  <a:schemeClr val="tx1"/>
                </a:solidFill>
                <a:latin typeface="Gill Sans MT" panose="020B0502020104020203" pitchFamily="34" charset="0"/>
              </a:rPr>
              <a:t>Model Architecture - Discriminator</a:t>
            </a:r>
          </a:p>
        </p:txBody>
      </p:sp>
      <p:sp>
        <p:nvSpPr>
          <p:cNvPr id="4" name="TextBox 3">
            <a:extLst>
              <a:ext uri="{FF2B5EF4-FFF2-40B4-BE49-F238E27FC236}">
                <a16:creationId xmlns:a16="http://schemas.microsoft.com/office/drawing/2014/main" id="{FC6D2ABA-E8B1-4BE9-BE4F-28E08D31C718}"/>
              </a:ext>
            </a:extLst>
          </p:cNvPr>
          <p:cNvSpPr txBox="1"/>
          <p:nvPr/>
        </p:nvSpPr>
        <p:spPr>
          <a:xfrm>
            <a:off x="1097280" y="1741170"/>
            <a:ext cx="10298430" cy="4519850"/>
          </a:xfrm>
          <a:prstGeom prst="rect">
            <a:avLst/>
          </a:prstGeom>
          <a:noFill/>
        </p:spPr>
        <p:txBody>
          <a:bodyPr wrap="square">
            <a:spAutoFit/>
          </a:bodyPr>
          <a:lstStyle/>
          <a:p>
            <a:pPr marL="285750" indent="-285750" algn="just">
              <a:buFont typeface="Arial" panose="020B0604020202020204" pitchFamily="34" charset="0"/>
              <a:buChar char="•"/>
            </a:pPr>
            <a:r>
              <a:rPr lang="en-IN" sz="1700" b="1" dirty="0">
                <a:latin typeface="Gill Sans MT" panose="020B0502020104020203" pitchFamily="34" charset="0"/>
              </a:rPr>
              <a:t>Purpose of the Discriminator:</a:t>
            </a:r>
          </a:p>
          <a:p>
            <a:pPr algn="just"/>
            <a:r>
              <a:rPr lang="en-IN" sz="1700" dirty="0">
                <a:latin typeface="Gill Sans MT" panose="020B0502020104020203" pitchFamily="34" charset="0"/>
              </a:rPr>
              <a:t>The discriminator in image colorization GANs evaluates whether the colorized images produced by the generator are realistic or not.</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err="1">
                <a:latin typeface="Gill Sans MT" panose="020B0502020104020203" pitchFamily="34" charset="0"/>
              </a:rPr>
              <a:t>PatchGAN</a:t>
            </a:r>
            <a:r>
              <a:rPr lang="en-IN" sz="1700" b="1" dirty="0">
                <a:latin typeface="Gill Sans MT" panose="020B0502020104020203" pitchFamily="34" charset="0"/>
              </a:rPr>
              <a:t> Design:</a:t>
            </a:r>
          </a:p>
          <a:p>
            <a:pPr algn="just"/>
            <a:r>
              <a:rPr lang="en-IN" sz="1700" dirty="0">
                <a:latin typeface="Gill Sans MT" panose="020B0502020104020203" pitchFamily="34" charset="0"/>
              </a:rPr>
              <a:t>The discriminator, often employing a </a:t>
            </a:r>
            <a:r>
              <a:rPr lang="en-IN" sz="1700" dirty="0" err="1">
                <a:latin typeface="Gill Sans MT" panose="020B0502020104020203" pitchFamily="34" charset="0"/>
              </a:rPr>
              <a:t>PatchGAN</a:t>
            </a:r>
            <a:r>
              <a:rPr lang="en-IN" sz="1700" dirty="0">
                <a:latin typeface="Gill Sans MT" panose="020B0502020104020203" pitchFamily="34" charset="0"/>
              </a:rPr>
              <a:t> design, focuses on small patches of the image rather than the entire image.</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High-Frequency Detail Evaluation:</a:t>
            </a:r>
          </a:p>
          <a:p>
            <a:pPr algn="just"/>
            <a:r>
              <a:rPr lang="en-IN" sz="1700" dirty="0" err="1">
                <a:latin typeface="Gill Sans MT" panose="020B0502020104020203" pitchFamily="34" charset="0"/>
              </a:rPr>
              <a:t>PatchGAN</a:t>
            </a:r>
            <a:r>
              <a:rPr lang="en-IN" sz="1700" dirty="0">
                <a:latin typeface="Gill Sans MT" panose="020B0502020104020203" pitchFamily="34" charset="0"/>
              </a:rPr>
              <a:t> is adept at evaluating high-frequency details in the colorized images, such as sharpness and texture.</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Real vs. Fake Classification:</a:t>
            </a:r>
          </a:p>
          <a:p>
            <a:pPr algn="just"/>
            <a:r>
              <a:rPr lang="en-IN" sz="1700" dirty="0">
                <a:latin typeface="Gill Sans MT" panose="020B0502020104020203" pitchFamily="34" charset="0"/>
              </a:rPr>
              <a:t>It distinguishes between real patches from the original </a:t>
            </a:r>
            <a:r>
              <a:rPr lang="en-IN" sz="1700" dirty="0" err="1">
                <a:latin typeface="Gill Sans MT" panose="020B0502020104020203" pitchFamily="34" charset="0"/>
              </a:rPr>
              <a:t>color</a:t>
            </a:r>
            <a:r>
              <a:rPr lang="en-IN" sz="1700" dirty="0">
                <a:latin typeface="Gill Sans MT" panose="020B0502020104020203" pitchFamily="34" charset="0"/>
              </a:rPr>
              <a:t> images and fake patches generated by the generator.</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Contribution to Realism:</a:t>
            </a:r>
          </a:p>
          <a:p>
            <a:pPr algn="just"/>
            <a:r>
              <a:rPr lang="en-IN" sz="1700" dirty="0">
                <a:latin typeface="Gill Sans MT" panose="020B0502020104020203" pitchFamily="34" charset="0"/>
              </a:rPr>
              <a:t>By providing feedback to the generator, the discriminator plays a crucial role in enhancing the realism of the colorized images.</a:t>
            </a:r>
          </a:p>
        </p:txBody>
      </p:sp>
    </p:spTree>
    <p:extLst>
      <p:ext uri="{BB962C8B-B14F-4D97-AF65-F5344CB8AC3E}">
        <p14:creationId xmlns:p14="http://schemas.microsoft.com/office/powerpoint/2010/main" val="3912524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92889-4E90-467B-BF74-39A868665F65}"/>
              </a:ext>
            </a:extLst>
          </p:cNvPr>
          <p:cNvSpPr>
            <a:spLocks noGrp="1"/>
          </p:cNvSpPr>
          <p:nvPr>
            <p:ph type="title"/>
          </p:nvPr>
        </p:nvSpPr>
        <p:spPr/>
        <p:txBody>
          <a:bodyPr>
            <a:normAutofit/>
          </a:bodyPr>
          <a:lstStyle/>
          <a:p>
            <a:r>
              <a:rPr lang="en-IN" sz="3200" dirty="0">
                <a:solidFill>
                  <a:schemeClr val="tx1"/>
                </a:solidFill>
                <a:latin typeface="Gill Sans MT" panose="020B0502020104020203" pitchFamily="34" charset="0"/>
              </a:rPr>
              <a:t>Evaluation and Metrics</a:t>
            </a:r>
          </a:p>
        </p:txBody>
      </p:sp>
      <p:sp>
        <p:nvSpPr>
          <p:cNvPr id="4" name="TextBox 3">
            <a:extLst>
              <a:ext uri="{FF2B5EF4-FFF2-40B4-BE49-F238E27FC236}">
                <a16:creationId xmlns:a16="http://schemas.microsoft.com/office/drawing/2014/main" id="{71776091-2194-4E7B-A53F-F3492ACDAD22}"/>
              </a:ext>
            </a:extLst>
          </p:cNvPr>
          <p:cNvSpPr txBox="1"/>
          <p:nvPr/>
        </p:nvSpPr>
        <p:spPr>
          <a:xfrm>
            <a:off x="1097280" y="1889760"/>
            <a:ext cx="10321834" cy="4278094"/>
          </a:xfrm>
          <a:prstGeom prst="rect">
            <a:avLst/>
          </a:prstGeom>
          <a:noFill/>
        </p:spPr>
        <p:txBody>
          <a:bodyPr wrap="square">
            <a:spAutoFit/>
          </a:bodyPr>
          <a:lstStyle/>
          <a:p>
            <a:pPr marL="285750" indent="-285750" algn="just">
              <a:buFont typeface="Arial" panose="020B0604020202020204" pitchFamily="34" charset="0"/>
              <a:buChar char="•"/>
            </a:pPr>
            <a:r>
              <a:rPr lang="en-IN" sz="1700" b="1" dirty="0">
                <a:latin typeface="Gill Sans MT" panose="020B0502020104020203" pitchFamily="34" charset="0"/>
              </a:rPr>
              <a:t>Accuracy Assessment:</a:t>
            </a:r>
          </a:p>
          <a:p>
            <a:pPr algn="just"/>
            <a:r>
              <a:rPr lang="en-IN" sz="1700" dirty="0">
                <a:latin typeface="Gill Sans MT" panose="020B0502020104020203" pitchFamily="34" charset="0"/>
              </a:rPr>
              <a:t>Measures how accurately the colorized images represent the original coloured versions.</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err="1">
                <a:latin typeface="Gill Sans MT" panose="020B0502020104020203" pitchFamily="34" charset="0"/>
              </a:rPr>
              <a:t>Color</a:t>
            </a:r>
            <a:r>
              <a:rPr lang="en-IN" sz="1700" b="1" dirty="0">
                <a:latin typeface="Gill Sans MT" panose="020B0502020104020203" pitchFamily="34" charset="0"/>
              </a:rPr>
              <a:t> Consistency:</a:t>
            </a:r>
          </a:p>
          <a:p>
            <a:pPr algn="just"/>
            <a:r>
              <a:rPr lang="en-IN" sz="1700" dirty="0">
                <a:latin typeface="Gill Sans MT" panose="020B0502020104020203" pitchFamily="34" charset="0"/>
              </a:rPr>
              <a:t>Assesses the consistency of </a:t>
            </a:r>
            <a:r>
              <a:rPr lang="en-IN" sz="1700" dirty="0" err="1">
                <a:latin typeface="Gill Sans MT" panose="020B0502020104020203" pitchFamily="34" charset="0"/>
              </a:rPr>
              <a:t>colors</a:t>
            </a:r>
            <a:r>
              <a:rPr lang="en-IN" sz="1700" dirty="0">
                <a:latin typeface="Gill Sans MT" panose="020B0502020104020203" pitchFamily="34" charset="0"/>
              </a:rPr>
              <a:t> across different parts of the image and compared to real-world </a:t>
            </a:r>
            <a:r>
              <a:rPr lang="en-IN" sz="1700" dirty="0" err="1">
                <a:latin typeface="Gill Sans MT" panose="020B0502020104020203" pitchFamily="34" charset="0"/>
              </a:rPr>
              <a:t>colors</a:t>
            </a:r>
            <a:r>
              <a:rPr lang="en-IN" sz="1700" dirty="0">
                <a:latin typeface="Gill Sans MT" panose="020B0502020104020203" pitchFamily="34" charset="0"/>
              </a:rPr>
              <a:t>.</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Structural Preservation:</a:t>
            </a:r>
          </a:p>
          <a:p>
            <a:pPr algn="just"/>
            <a:r>
              <a:rPr lang="en-IN" sz="1700" dirty="0">
                <a:latin typeface="Gill Sans MT" panose="020B0502020104020203" pitchFamily="34" charset="0"/>
              </a:rPr>
              <a:t>Examines how well the colorization process preserves the structural details and edges of the original image.</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Cross-Dataset Generalization:</a:t>
            </a:r>
          </a:p>
          <a:p>
            <a:pPr algn="just"/>
            <a:r>
              <a:rPr lang="en-IN" sz="1700" dirty="0">
                <a:latin typeface="Gill Sans MT" panose="020B0502020104020203" pitchFamily="34" charset="0"/>
              </a:rPr>
              <a:t>Tests the model's performance on datasets different from those it was trained on, assessing its ability to generalize colorization across diverse image sets.</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Runtime Efficiency:</a:t>
            </a:r>
          </a:p>
          <a:p>
            <a:pPr algn="just"/>
            <a:r>
              <a:rPr lang="en-IN" sz="1700" dirty="0">
                <a:latin typeface="Gill Sans MT" panose="020B0502020104020203" pitchFamily="34" charset="0"/>
              </a:rPr>
              <a:t>Measures the speed and computational resources required for the colorization process, influencing practical usability in real-world applications.</a:t>
            </a:r>
          </a:p>
        </p:txBody>
      </p:sp>
    </p:spTree>
    <p:extLst>
      <p:ext uri="{BB962C8B-B14F-4D97-AF65-F5344CB8AC3E}">
        <p14:creationId xmlns:p14="http://schemas.microsoft.com/office/powerpoint/2010/main" val="1475531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9557C-77B1-462A-8CC4-0C9243EAB204}"/>
              </a:ext>
            </a:extLst>
          </p:cNvPr>
          <p:cNvSpPr>
            <a:spLocks noGrp="1"/>
          </p:cNvSpPr>
          <p:nvPr>
            <p:ph type="title"/>
          </p:nvPr>
        </p:nvSpPr>
        <p:spPr/>
        <p:txBody>
          <a:bodyPr>
            <a:normAutofit/>
          </a:bodyPr>
          <a:lstStyle/>
          <a:p>
            <a:r>
              <a:rPr lang="en-IN" sz="3200" dirty="0">
                <a:solidFill>
                  <a:schemeClr val="tx1"/>
                </a:solidFill>
                <a:latin typeface="Gill Sans MT" panose="020B0502020104020203" pitchFamily="34" charset="0"/>
              </a:rPr>
              <a:t>Results </a:t>
            </a:r>
          </a:p>
        </p:txBody>
      </p:sp>
      <p:pic>
        <p:nvPicPr>
          <p:cNvPr id="3" name="Picture 2" descr="A cartoon character with a green background&#10;&#10;Description automatically generated">
            <a:extLst>
              <a:ext uri="{FF2B5EF4-FFF2-40B4-BE49-F238E27FC236}">
                <a16:creationId xmlns:a16="http://schemas.microsoft.com/office/drawing/2014/main" id="{D822EE56-3C22-4023-8DE5-DE57D309FF7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41474" y="2166258"/>
            <a:ext cx="5783126" cy="2536372"/>
          </a:xfrm>
          <a:prstGeom prst="rect">
            <a:avLst/>
          </a:prstGeom>
          <a:noFill/>
          <a:ln>
            <a:noFill/>
          </a:ln>
        </p:spPr>
      </p:pic>
      <p:sp>
        <p:nvSpPr>
          <p:cNvPr id="5" name="TextBox 4">
            <a:extLst>
              <a:ext uri="{FF2B5EF4-FFF2-40B4-BE49-F238E27FC236}">
                <a16:creationId xmlns:a16="http://schemas.microsoft.com/office/drawing/2014/main" id="{CD0B3C1F-DFAC-4B82-8804-FA62574563E0}"/>
              </a:ext>
            </a:extLst>
          </p:cNvPr>
          <p:cNvSpPr txBox="1"/>
          <p:nvPr/>
        </p:nvSpPr>
        <p:spPr>
          <a:xfrm>
            <a:off x="6683829" y="2458722"/>
            <a:ext cx="4746171" cy="1400383"/>
          </a:xfrm>
          <a:prstGeom prst="rect">
            <a:avLst/>
          </a:prstGeom>
          <a:noFill/>
        </p:spPr>
        <p:txBody>
          <a:bodyPr wrap="square">
            <a:spAutoFit/>
          </a:bodyPr>
          <a:lstStyle/>
          <a:p>
            <a:pPr algn="just"/>
            <a:r>
              <a:rPr lang="en-US" sz="1700" dirty="0">
                <a:latin typeface="Gill Sans MT" panose="020B0502020104020203" pitchFamily="34" charset="0"/>
              </a:rPr>
              <a:t>The result image shows a comparison between the original black and white image (Input image), a real color image (Real ground truth) and a colorized version of the black and white image created with a GAN (Generated image).</a:t>
            </a:r>
            <a:endParaRPr lang="en-IN" sz="1700" dirty="0">
              <a:latin typeface="Gill Sans MT" panose="020B0502020104020203" pitchFamily="34" charset="0"/>
            </a:endParaRPr>
          </a:p>
        </p:txBody>
      </p:sp>
    </p:spTree>
    <p:extLst>
      <p:ext uri="{BB962C8B-B14F-4D97-AF65-F5344CB8AC3E}">
        <p14:creationId xmlns:p14="http://schemas.microsoft.com/office/powerpoint/2010/main" val="4135099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2677-78C1-42E4-803E-17E62D60ACE8}"/>
              </a:ext>
            </a:extLst>
          </p:cNvPr>
          <p:cNvSpPr>
            <a:spLocks noGrp="1"/>
          </p:cNvSpPr>
          <p:nvPr>
            <p:ph type="title"/>
          </p:nvPr>
        </p:nvSpPr>
        <p:spPr/>
        <p:txBody>
          <a:bodyPr>
            <a:normAutofit/>
          </a:bodyPr>
          <a:lstStyle/>
          <a:p>
            <a:br>
              <a:rPr lang="en-IN" sz="3200" b="1" dirty="0">
                <a:solidFill>
                  <a:srgbClr val="000000"/>
                </a:solidFill>
                <a:effectLst/>
                <a:latin typeface="Gill Sans MT" panose="020B0502020104020203" pitchFamily="34" charset="0"/>
                <a:ea typeface="Times New Roman" panose="02020603050405020304" pitchFamily="18" charset="0"/>
              </a:rPr>
            </a:br>
            <a:r>
              <a:rPr lang="en-IN" sz="3200" b="1" dirty="0">
                <a:solidFill>
                  <a:srgbClr val="000000"/>
                </a:solidFill>
                <a:effectLst/>
                <a:latin typeface="Gill Sans MT" panose="020B0502020104020203" pitchFamily="34" charset="0"/>
                <a:ea typeface="Times New Roman" panose="02020603050405020304" pitchFamily="18" charset="0"/>
              </a:rPr>
              <a:t>Challenges Faced</a:t>
            </a:r>
            <a:endParaRPr lang="en-IN" sz="3200" dirty="0">
              <a:latin typeface="Gill Sans MT" panose="020B0502020104020203" pitchFamily="34" charset="0"/>
            </a:endParaRPr>
          </a:p>
        </p:txBody>
      </p:sp>
      <p:sp>
        <p:nvSpPr>
          <p:cNvPr id="4" name="TextBox 3">
            <a:extLst>
              <a:ext uri="{FF2B5EF4-FFF2-40B4-BE49-F238E27FC236}">
                <a16:creationId xmlns:a16="http://schemas.microsoft.com/office/drawing/2014/main" id="{4AF04EAF-AEDE-4110-A52E-820BA6B2783A}"/>
              </a:ext>
            </a:extLst>
          </p:cNvPr>
          <p:cNvSpPr txBox="1"/>
          <p:nvPr/>
        </p:nvSpPr>
        <p:spPr>
          <a:xfrm>
            <a:off x="1097280" y="1867717"/>
            <a:ext cx="9980023" cy="4278094"/>
          </a:xfrm>
          <a:prstGeom prst="rect">
            <a:avLst/>
          </a:prstGeom>
          <a:noFill/>
        </p:spPr>
        <p:txBody>
          <a:bodyPr wrap="square">
            <a:spAutoFit/>
          </a:bodyPr>
          <a:lstStyle/>
          <a:p>
            <a:pPr marL="285750" indent="-285750" algn="just">
              <a:buFont typeface="Arial" panose="020B0604020202020204" pitchFamily="34" charset="0"/>
              <a:buChar char="•"/>
            </a:pPr>
            <a:r>
              <a:rPr lang="en-IN" sz="1700" b="1" dirty="0">
                <a:latin typeface="Gill Sans MT" panose="020B0502020104020203" pitchFamily="34" charset="0"/>
              </a:rPr>
              <a:t>Challenges in Image Colorization Project Development:</a:t>
            </a:r>
          </a:p>
          <a:p>
            <a:pPr algn="just"/>
            <a:r>
              <a:rPr lang="en-IN" sz="1700" dirty="0">
                <a:latin typeface="Gill Sans MT" panose="020B0502020104020203" pitchFamily="34" charset="0"/>
              </a:rPr>
              <a:t>Balancing Generator and Discriminator</a:t>
            </a:r>
          </a:p>
          <a:p>
            <a:pPr algn="just"/>
            <a:r>
              <a:rPr lang="en-IN" sz="1700" dirty="0">
                <a:latin typeface="Gill Sans MT" panose="020B0502020104020203" pitchFamily="34" charset="0"/>
              </a:rPr>
              <a:t>Preventing mode collapse in the GAN by ensuring both networks are equally trained to avoid limited output varieties from the generator.</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Data Pre-processing:</a:t>
            </a:r>
          </a:p>
          <a:p>
            <a:pPr algn="just"/>
            <a:r>
              <a:rPr lang="en-IN" sz="1700" dirty="0">
                <a:latin typeface="Gill Sans MT" panose="020B0502020104020203" pitchFamily="34" charset="0"/>
              </a:rPr>
              <a:t>Ensuring consistency in image quality and size across datasets, which can be challenging to maintain for accurate colorization.</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Hyperparameter Tuning:</a:t>
            </a:r>
          </a:p>
          <a:p>
            <a:pPr algn="just"/>
            <a:r>
              <a:rPr lang="en-IN" sz="1700" dirty="0">
                <a:latin typeface="Gill Sans MT" panose="020B0502020104020203" pitchFamily="34" charset="0"/>
              </a:rPr>
              <a:t>Adjusting parameters for optimal training results, a critical task to ensure the model learns effectively and produces high-quality colorizations.</a:t>
            </a:r>
          </a:p>
          <a:p>
            <a:pPr algn="just"/>
            <a:r>
              <a:rPr lang="en-IN" sz="1700" dirty="0">
                <a:latin typeface="Gill Sans MT" panose="020B0502020104020203" pitchFamily="34" charset="0"/>
              </a:rPr>
              <a:t>    </a:t>
            </a:r>
          </a:p>
          <a:p>
            <a:pPr marL="285750" indent="-285750" algn="just">
              <a:buFont typeface="Arial" panose="020B0604020202020204" pitchFamily="34" charset="0"/>
              <a:buChar char="•"/>
            </a:pPr>
            <a:r>
              <a:rPr lang="en-IN" sz="1700" b="1" dirty="0">
                <a:latin typeface="Gill Sans MT" panose="020B0502020104020203" pitchFamily="34" charset="0"/>
              </a:rPr>
              <a:t>Managing Computational Resources:</a:t>
            </a:r>
          </a:p>
          <a:p>
            <a:pPr algn="just"/>
            <a:r>
              <a:rPr lang="en-IN" sz="1700" dirty="0">
                <a:latin typeface="Gill Sans MT" panose="020B0502020104020203" pitchFamily="34" charset="0"/>
              </a:rPr>
              <a:t>Effectively allocating resources due to the intensive nature of training deep learning models, which demands significant computational power and careful resource management.</a:t>
            </a:r>
          </a:p>
        </p:txBody>
      </p:sp>
    </p:spTree>
    <p:extLst>
      <p:ext uri="{BB962C8B-B14F-4D97-AF65-F5344CB8AC3E}">
        <p14:creationId xmlns:p14="http://schemas.microsoft.com/office/powerpoint/2010/main" val="2430468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B1077-3527-4610-AFC2-3DB43986C369}"/>
              </a:ext>
            </a:extLst>
          </p:cNvPr>
          <p:cNvSpPr>
            <a:spLocks noGrp="1"/>
          </p:cNvSpPr>
          <p:nvPr>
            <p:ph type="title"/>
          </p:nvPr>
        </p:nvSpPr>
        <p:spPr/>
        <p:txBody>
          <a:bodyPr>
            <a:normAutofit/>
          </a:bodyPr>
          <a:lstStyle/>
          <a:p>
            <a:pPr lvl="0">
              <a:lnSpc>
                <a:spcPct val="150000"/>
              </a:lnSpc>
              <a:spcBef>
                <a:spcPts val="1200"/>
              </a:spcBef>
              <a:tabLst>
                <a:tab pos="457200" algn="l"/>
              </a:tabLst>
            </a:pPr>
            <a:r>
              <a:rPr lang="en-IN" sz="3200" b="1" dirty="0">
                <a:solidFill>
                  <a:srgbClr val="000000"/>
                </a:solidFill>
                <a:effectLst/>
                <a:latin typeface="Gill Sans MT" panose="020B0502020104020203" pitchFamily="34" charset="0"/>
                <a:ea typeface="Times New Roman" panose="02020603050405020304" pitchFamily="18" charset="0"/>
              </a:rPr>
              <a:t>Conclusion</a:t>
            </a:r>
          </a:p>
        </p:txBody>
      </p:sp>
      <p:sp>
        <p:nvSpPr>
          <p:cNvPr id="5" name="Rectangle 3">
            <a:extLst>
              <a:ext uri="{FF2B5EF4-FFF2-40B4-BE49-F238E27FC236}">
                <a16:creationId xmlns:a16="http://schemas.microsoft.com/office/drawing/2014/main" id="{62DEE966-3953-4E70-B8E9-40B64CCD1253}"/>
              </a:ext>
            </a:extLst>
          </p:cNvPr>
          <p:cNvSpPr>
            <a:spLocks noChangeArrowheads="1"/>
          </p:cNvSpPr>
          <p:nvPr/>
        </p:nvSpPr>
        <p:spPr bwMode="auto">
          <a:xfrm>
            <a:off x="1200150" y="1819275"/>
            <a:ext cx="9955530" cy="4177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Gill Sans MT" panose="020B0502020104020203" pitchFamily="34" charset="0"/>
              </a:rPr>
              <a:t>Significance of Achievement:</a:t>
            </a:r>
            <a:endParaRPr lang="en-US" altLang="en-US" sz="1700" dirty="0">
              <a:latin typeface="Gill Sans MT" panose="020B0502020104020203" pitchFamily="34"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Gill Sans MT" panose="020B0502020104020203" pitchFamily="34" charset="0"/>
              </a:rPr>
              <a:t>Demonstrated the capability of GANs in complex image-to-image translation tasks, particularly in historical image enhancement.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700" b="0" i="0" u="none" strike="noStrike" cap="none" normalizeH="0" baseline="0" dirty="0">
              <a:ln>
                <a:noFill/>
              </a:ln>
              <a:solidFill>
                <a:schemeClr val="tx1"/>
              </a:solidFill>
              <a:effectLst/>
              <a:latin typeface="Gill Sans MT" panose="020B0502020104020203"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Gill Sans MT" panose="020B0502020104020203" pitchFamily="34" charset="0"/>
              </a:rPr>
              <a:t>Enhanced Accessibility:</a:t>
            </a:r>
            <a:endParaRPr lang="en-US" altLang="en-US" sz="1700" dirty="0">
              <a:latin typeface="Gill Sans MT" panose="020B0502020104020203" pitchFamily="34"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Gill Sans MT" panose="020B0502020104020203" pitchFamily="34" charset="0"/>
              </a:rPr>
              <a:t>Improved accessibility and appreciation of historical images by adding color, making them more visually engaging and relatable.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700" b="0" i="0" u="none" strike="noStrike" cap="none" normalizeH="0" baseline="0" dirty="0">
              <a:ln>
                <a:noFill/>
              </a:ln>
              <a:solidFill>
                <a:schemeClr val="tx1"/>
              </a:solidFill>
              <a:effectLst/>
              <a:latin typeface="Gill Sans MT" panose="020B0502020104020203"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Gill Sans MT" panose="020B0502020104020203" pitchFamily="34" charset="0"/>
              </a:rPr>
              <a:t>Aesthetic Improvement:</a:t>
            </a:r>
            <a:endParaRPr lang="en-US" altLang="en-US" sz="1700" dirty="0">
              <a:latin typeface="Gill Sans MT" panose="020B0502020104020203" pitchFamily="34"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Gill Sans MT" panose="020B0502020104020203" pitchFamily="34" charset="0"/>
              </a:rPr>
              <a:t>Enhanced the aesthetic quality of images by introducing vibrant colors, transforming monochromatic photos into visually appealing ones.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700" b="0" i="0" u="none" strike="noStrike" cap="none" normalizeH="0" baseline="0" dirty="0">
              <a:ln>
                <a:noFill/>
              </a:ln>
              <a:solidFill>
                <a:schemeClr val="tx1"/>
              </a:solidFill>
              <a:effectLst/>
              <a:latin typeface="Gill Sans MT" panose="020B0502020104020203"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Gill Sans MT" panose="020B0502020104020203" pitchFamily="34" charset="0"/>
              </a:rPr>
              <a:t>Historical Contextualization:</a:t>
            </a:r>
          </a:p>
          <a:p>
            <a:pPr marR="0" lvl="0" algn="just" defTabSz="914400" rtl="0" eaLnBrk="0" fontAlgn="base" latinLnBrk="0" hangingPunct="0">
              <a:lnSpc>
                <a:spcPct val="100000"/>
              </a:lnSpc>
              <a:spcBef>
                <a:spcPct val="0"/>
              </a:spcBef>
              <a:spcAft>
                <a:spcPct val="0"/>
              </a:spcAft>
              <a:buClrTx/>
              <a:buSzTx/>
              <a:tabLst/>
            </a:pPr>
            <a:r>
              <a:rPr kumimoji="0" lang="en-US" altLang="en-US" sz="1700" b="0" i="0" u="none" strike="noStrike" cap="none" normalizeH="0" baseline="0" dirty="0">
                <a:ln>
                  <a:noFill/>
                </a:ln>
                <a:solidFill>
                  <a:schemeClr val="tx1"/>
                </a:solidFill>
                <a:effectLst/>
                <a:latin typeface="Gill Sans MT" panose="020B0502020104020203" pitchFamily="34" charset="0"/>
              </a:rPr>
              <a:t>Assisted in visualizing and understanding historical contexts by providing colorized representations, bridging the gap between past and present visual experiences.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700" b="0" i="0" u="none" strike="noStrike" cap="none" normalizeH="0" baseline="0" dirty="0">
              <a:ln>
                <a:noFill/>
              </a:ln>
              <a:solidFill>
                <a:schemeClr val="tx1"/>
              </a:solidFill>
              <a:effectLst/>
              <a:latin typeface="Gill Sans MT" panose="020B0502020104020203" pitchFamily="34" charset="0"/>
            </a:endParaRPr>
          </a:p>
        </p:txBody>
      </p:sp>
      <p:sp>
        <p:nvSpPr>
          <p:cNvPr id="6" name="Rectangle 4">
            <a:extLst>
              <a:ext uri="{FF2B5EF4-FFF2-40B4-BE49-F238E27FC236}">
                <a16:creationId xmlns:a16="http://schemas.microsoft.com/office/drawing/2014/main" id="{95705FD5-E44B-41C6-A0EA-D48C99F5D2E1}"/>
              </a:ext>
            </a:extLst>
          </p:cNvPr>
          <p:cNvSpPr>
            <a:spLocks noChangeArrowheads="1"/>
          </p:cNvSpPr>
          <p:nvPr/>
        </p:nvSpPr>
        <p:spPr bwMode="auto">
          <a:xfrm>
            <a:off x="0" y="0"/>
            <a:ext cx="13081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517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2729A-7C61-4E9D-96CE-0373285322B3}"/>
              </a:ext>
            </a:extLst>
          </p:cNvPr>
          <p:cNvSpPr>
            <a:spLocks noGrp="1"/>
          </p:cNvSpPr>
          <p:nvPr>
            <p:ph type="title"/>
          </p:nvPr>
        </p:nvSpPr>
        <p:spPr/>
        <p:txBody>
          <a:bodyPr>
            <a:normAutofit/>
          </a:bodyPr>
          <a:lstStyle/>
          <a:p>
            <a:r>
              <a:rPr lang="en-IN" sz="3200" dirty="0">
                <a:solidFill>
                  <a:schemeClr val="tx1"/>
                </a:solidFill>
                <a:latin typeface="Gill Sans MT" panose="020B0502020104020203" pitchFamily="34" charset="0"/>
              </a:rPr>
              <a:t>Future scope </a:t>
            </a:r>
          </a:p>
        </p:txBody>
      </p:sp>
      <p:sp>
        <p:nvSpPr>
          <p:cNvPr id="4" name="TextBox 3">
            <a:extLst>
              <a:ext uri="{FF2B5EF4-FFF2-40B4-BE49-F238E27FC236}">
                <a16:creationId xmlns:a16="http://schemas.microsoft.com/office/drawing/2014/main" id="{F93B2801-9DBC-48C4-B877-B54B4AE4A0B3}"/>
              </a:ext>
            </a:extLst>
          </p:cNvPr>
          <p:cNvSpPr txBox="1"/>
          <p:nvPr/>
        </p:nvSpPr>
        <p:spPr>
          <a:xfrm>
            <a:off x="1143000" y="1770083"/>
            <a:ext cx="9906000" cy="4016484"/>
          </a:xfrm>
          <a:prstGeom prst="rect">
            <a:avLst/>
          </a:prstGeom>
          <a:noFill/>
        </p:spPr>
        <p:txBody>
          <a:bodyPr wrap="square">
            <a:spAutoFit/>
          </a:bodyPr>
          <a:lstStyle/>
          <a:p>
            <a:pPr marL="285750" indent="-285750" algn="just">
              <a:buFont typeface="Arial" panose="020B0604020202020204" pitchFamily="34" charset="0"/>
              <a:buChar char="•"/>
            </a:pPr>
            <a:r>
              <a:rPr lang="en-IN" sz="1700" b="1" dirty="0"/>
              <a:t>Integration of Sophisticated GAN Architectures:</a:t>
            </a:r>
          </a:p>
          <a:p>
            <a:pPr algn="just"/>
            <a:r>
              <a:rPr lang="en-IN" sz="1700" dirty="0"/>
              <a:t>Incorporating advanced architectures like Style GAN could enhance colorization realism.</a:t>
            </a:r>
          </a:p>
          <a:p>
            <a:pPr algn="just"/>
            <a:r>
              <a:rPr lang="en-IN" sz="1700" dirty="0"/>
              <a:t>    </a:t>
            </a:r>
          </a:p>
          <a:p>
            <a:pPr marL="285750" indent="-285750" algn="just">
              <a:buFont typeface="Arial" panose="020B0604020202020204" pitchFamily="34" charset="0"/>
              <a:buChar char="•"/>
            </a:pPr>
            <a:r>
              <a:rPr lang="en-IN" sz="1700" b="1" dirty="0"/>
              <a:t>Exploration of Transfer Learning:</a:t>
            </a:r>
          </a:p>
          <a:p>
            <a:pPr algn="just"/>
            <a:r>
              <a:rPr lang="en-IN" sz="1700" dirty="0"/>
              <a:t>Applying transfer learning techniques could reduce training time and resource usage.</a:t>
            </a:r>
          </a:p>
          <a:p>
            <a:pPr algn="just"/>
            <a:r>
              <a:rPr lang="en-IN" sz="1700" dirty="0"/>
              <a:t>    </a:t>
            </a:r>
          </a:p>
          <a:p>
            <a:pPr marL="285750" indent="-285750" algn="just">
              <a:buFont typeface="Arial" panose="020B0604020202020204" pitchFamily="34" charset="0"/>
              <a:buChar char="•"/>
            </a:pPr>
            <a:r>
              <a:rPr lang="en-IN" sz="1700" b="1" dirty="0"/>
              <a:t>Mode Collapse Prevention:</a:t>
            </a:r>
          </a:p>
          <a:p>
            <a:pPr algn="just"/>
            <a:r>
              <a:rPr lang="en-IN" sz="1700" dirty="0"/>
              <a:t>Implementing improved techniques to prevent mode collapse would enhance model stability.</a:t>
            </a:r>
          </a:p>
          <a:p>
            <a:pPr algn="just"/>
            <a:r>
              <a:rPr lang="en-IN" sz="1700" dirty="0"/>
              <a:t>    </a:t>
            </a:r>
            <a:endParaRPr lang="en-IN" sz="1700" b="1" dirty="0"/>
          </a:p>
          <a:p>
            <a:pPr marL="285750" indent="-285750" algn="just">
              <a:buFont typeface="Arial" panose="020B0604020202020204" pitchFamily="34" charset="0"/>
              <a:buChar char="•"/>
            </a:pPr>
            <a:r>
              <a:rPr lang="en-IN" sz="1700" b="1" dirty="0"/>
              <a:t>Expansion of Dataset:</a:t>
            </a:r>
          </a:p>
          <a:p>
            <a:pPr algn="just"/>
            <a:r>
              <a:rPr lang="en-IN" sz="1700" dirty="0"/>
              <a:t>Including a wider range of image types in the dataset could improve model robustness and generalization.</a:t>
            </a:r>
          </a:p>
          <a:p>
            <a:pPr algn="just"/>
            <a:r>
              <a:rPr lang="en-IN" sz="1700" dirty="0"/>
              <a:t>    </a:t>
            </a:r>
          </a:p>
          <a:p>
            <a:pPr marL="285750" indent="-285750" algn="just">
              <a:buFont typeface="Arial" panose="020B0604020202020204" pitchFamily="34" charset="0"/>
              <a:buChar char="•"/>
            </a:pPr>
            <a:r>
              <a:rPr lang="en-IN" sz="1700" b="1" dirty="0"/>
              <a:t>Real-time Colorization Capabilities:</a:t>
            </a:r>
          </a:p>
          <a:p>
            <a:pPr algn="just"/>
            <a:r>
              <a:rPr lang="en-IN" sz="1700" dirty="0"/>
              <a:t>Researching real-time colorization could enable live video colorization, enhancing user interaction and customization.</a:t>
            </a:r>
          </a:p>
        </p:txBody>
      </p:sp>
    </p:spTree>
    <p:extLst>
      <p:ext uri="{BB962C8B-B14F-4D97-AF65-F5344CB8AC3E}">
        <p14:creationId xmlns:p14="http://schemas.microsoft.com/office/powerpoint/2010/main" val="4225427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Question Mark, Microsoft PowerPoint, Presentation, Sentence, Interview, Presentation  Slide, Drawing, Full Stop, Question Mark, Question, Microsoft PowerPoint  png | PNGWing">
            <a:extLst>
              <a:ext uri="{FF2B5EF4-FFF2-40B4-BE49-F238E27FC236}">
                <a16:creationId xmlns:a16="http://schemas.microsoft.com/office/drawing/2014/main" id="{DC39E136-2069-4809-9C2C-7F7C6EEA39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6332" y="986720"/>
            <a:ext cx="3896671" cy="244228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2D4C3BB-8777-4763-8E0F-598BAC22F2D1}"/>
              </a:ext>
            </a:extLst>
          </p:cNvPr>
          <p:cNvSpPr txBox="1"/>
          <p:nvPr/>
        </p:nvSpPr>
        <p:spPr>
          <a:xfrm>
            <a:off x="2952750" y="3568184"/>
            <a:ext cx="6096000" cy="461665"/>
          </a:xfrm>
          <a:prstGeom prst="rect">
            <a:avLst/>
          </a:prstGeom>
          <a:noFill/>
        </p:spPr>
        <p:txBody>
          <a:bodyPr wrap="square">
            <a:spAutoFit/>
          </a:bodyPr>
          <a:lstStyle/>
          <a:p>
            <a:pPr algn="ctr"/>
            <a:r>
              <a:rPr lang="en-US" sz="2400" dirty="0">
                <a:latin typeface="Gill Sans MT" panose="020B0502020104020203" pitchFamily="34" charset="0"/>
              </a:rPr>
              <a:t>QUERIES…?</a:t>
            </a:r>
          </a:p>
        </p:txBody>
      </p:sp>
    </p:spTree>
    <p:extLst>
      <p:ext uri="{BB962C8B-B14F-4D97-AF65-F5344CB8AC3E}">
        <p14:creationId xmlns:p14="http://schemas.microsoft.com/office/powerpoint/2010/main" val="2954186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Thank You Images – Browse 261,701 Stock Photos, Vectors, and Video | Adobe  Stock">
            <a:extLst>
              <a:ext uri="{FF2B5EF4-FFF2-40B4-BE49-F238E27FC236}">
                <a16:creationId xmlns:a16="http://schemas.microsoft.com/office/drawing/2014/main" id="{DADEFAA2-79D2-4387-8451-167C7AFAD8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1206766"/>
            <a:ext cx="8248297" cy="3179467"/>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291973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200</TotalTime>
  <Words>1672</Words>
  <Application>Microsoft Office PowerPoint</Application>
  <PresentationFormat>Widescreen</PresentationFormat>
  <Paragraphs>221</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Gill Sans MT</vt:lpstr>
      <vt:lpstr>Söhne</vt:lpstr>
      <vt:lpstr>Retrospect</vt:lpstr>
      <vt:lpstr>COLORISING IMAGES</vt:lpstr>
      <vt:lpstr>Introduction </vt:lpstr>
      <vt:lpstr>Purpose of the project</vt:lpstr>
      <vt:lpstr>Brief overview of project </vt:lpstr>
      <vt:lpstr> Problem Statement</vt:lpstr>
      <vt:lpstr>Objectives</vt:lpstr>
      <vt:lpstr>Generative Adversarial Networks (GANs) - Overview</vt:lpstr>
      <vt:lpstr>Why Use GANs for Image Colorization?</vt:lpstr>
      <vt:lpstr>The pix2pix Framework</vt:lpstr>
      <vt:lpstr>Technical Framework</vt:lpstr>
      <vt:lpstr>Pre-processing Techniques</vt:lpstr>
      <vt:lpstr>Model Architecture - Generator</vt:lpstr>
      <vt:lpstr>Model Architecture - Discriminator</vt:lpstr>
      <vt:lpstr>Evaluation and Metrics</vt:lpstr>
      <vt:lpstr>Results </vt:lpstr>
      <vt:lpstr> Challenges Faced</vt:lpstr>
      <vt:lpstr>Conclusion</vt:lpstr>
      <vt:lpstr>Future scope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bhagyashri bomble</dc:creator>
  <cp:lastModifiedBy>akhila Kaki</cp:lastModifiedBy>
  <cp:revision>17</cp:revision>
  <dcterms:created xsi:type="dcterms:W3CDTF">2024-05-01T14:10:34Z</dcterms:created>
  <dcterms:modified xsi:type="dcterms:W3CDTF">2024-05-05T13:03:19Z</dcterms:modified>
</cp:coreProperties>
</file>